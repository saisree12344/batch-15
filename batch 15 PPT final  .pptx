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9" r:id="rId6"/>
    <p:sldId id="284" r:id="rId7"/>
    <p:sldId id="285" r:id="rId8"/>
    <p:sldId id="289" r:id="rId9"/>
    <p:sldId id="286" r:id="rId10"/>
    <p:sldId id="283" r:id="rId11"/>
    <p:sldId id="287" r:id="rId12"/>
    <p:sldId id="277" r:id="rId13"/>
    <p:sldId id="290" r:id="rId14"/>
    <p:sldId id="291" r:id="rId15"/>
    <p:sldId id="295" r:id="rId16"/>
    <p:sldId id="292" r:id="rId17"/>
    <p:sldId id="305" r:id="rId18"/>
    <p:sldId id="307" r:id="rId19"/>
    <p:sldId id="296" r:id="rId20"/>
    <p:sldId id="298" r:id="rId21"/>
    <p:sldId id="300" r:id="rId22"/>
    <p:sldId id="302" r:id="rId23"/>
    <p:sldId id="303" r:id="rId24"/>
    <p:sldId id="299" r:id="rId25"/>
  </p:sldIdLst>
  <p:sldSz cx="9144000" cy="5143500" type="screen16x9"/>
  <p:notesSz cx="6858000" cy="9144000"/>
  <p:embeddedFontLst>
    <p:embeddedFont>
      <p:font typeface="SimSun" panose="02010600030101010101" pitchFamily="2" charset="-122"/>
      <p:regular r:id="rId29"/>
    </p:embeddedFont>
    <p:embeddedFont>
      <p:font typeface="Noto Serif Ethiopic" panose="02020502060505020204"/>
      <p:regular r:id="rId30"/>
    </p:embeddedFont>
    <p:embeddedFont>
      <p:font typeface="Akatab" panose="02000000000000000000"/>
      <p:regular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62" autoAdjust="0"/>
    <p:restoredTop sz="94660"/>
  </p:normalViewPr>
  <p:slideViewPr>
    <p:cSldViewPr snapToGrid="0" showGuides="1">
      <p:cViewPr varScale="1">
        <p:scale>
          <a:sx n="103" d="100"/>
          <a:sy n="103" d="100"/>
        </p:scale>
        <p:origin x="99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font" Target="fonts/font3.fntdata"/><Relationship Id="rId30" Type="http://schemas.openxmlformats.org/officeDocument/2006/relationships/font" Target="fonts/font2.fntdata"/><Relationship Id="rId3" Type="http://schemas.openxmlformats.org/officeDocument/2006/relationships/slide" Target="slides/slide1.xml"/><Relationship Id="rId29" Type="http://schemas.openxmlformats.org/officeDocument/2006/relationships/font" Target="fonts/font1.fntdata"/><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1"/>
        <p:cNvGrpSpPr/>
        <p:nvPr/>
      </p:nvGrpSpPr>
      <p:grpSpPr>
        <a:xfrm>
          <a:off x="0" y="0"/>
          <a:ext cx="0" cy="0"/>
          <a:chOff x="0" y="0"/>
          <a:chExt cx="0" cy="0"/>
        </a:xfrm>
      </p:grpSpPr>
      <p:sp>
        <p:nvSpPr>
          <p:cNvPr id="52" name="Google Shape;5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 name="Google Shape;5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9"/>
        <p:cNvGrpSpPr/>
        <p:nvPr/>
      </p:nvGrpSpPr>
      <p:grpSpPr>
        <a:xfrm>
          <a:off x="0" y="0"/>
          <a:ext cx="0" cy="0"/>
          <a:chOff x="0" y="0"/>
          <a:chExt cx="0" cy="0"/>
        </a:xfrm>
      </p:grpSpPr>
      <p:sp>
        <p:nvSpPr>
          <p:cNvPr id="60" name="Google Shape;6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
        <p:cNvGrpSpPr/>
        <p:nvPr/>
      </p:nvGrpSpPr>
      <p:grpSpPr>
        <a:xfrm>
          <a:off x="0" y="0"/>
          <a:ext cx="0" cy="0"/>
          <a:chOff x="0" y="0"/>
          <a:chExt cx="0" cy="0"/>
        </a:xfrm>
      </p:grpSpPr>
      <p:sp>
        <p:nvSpPr>
          <p:cNvPr id="74" name="Google Shape;7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9"/>
        <p:cNvGrpSpPr/>
        <p:nvPr/>
      </p:nvGrpSpPr>
      <p:grpSpPr>
        <a:xfrm>
          <a:off x="0" y="0"/>
          <a:ext cx="0" cy="0"/>
          <a:chOff x="0" y="0"/>
          <a:chExt cx="0" cy="0"/>
        </a:xfrm>
      </p:grpSpPr>
      <p:sp>
        <p:nvSpPr>
          <p:cNvPr id="60" name="Google Shape;6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
        <p:cNvGrpSpPr/>
        <p:nvPr/>
      </p:nvGrpSpPr>
      <p:grpSpPr>
        <a:xfrm>
          <a:off x="0" y="0"/>
          <a:ext cx="0" cy="0"/>
          <a:chOff x="0" y="0"/>
          <a:chExt cx="0" cy="0"/>
        </a:xfrm>
      </p:grpSpPr>
      <p:sp>
        <p:nvSpPr>
          <p:cNvPr id="74" name="Google Shape;7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
        <p:cNvGrpSpPr/>
        <p:nvPr/>
      </p:nvGrpSpPr>
      <p:grpSpPr>
        <a:xfrm>
          <a:off x="0" y="0"/>
          <a:ext cx="0" cy="0"/>
          <a:chOff x="0" y="0"/>
          <a:chExt cx="0" cy="0"/>
        </a:xfrm>
      </p:grpSpPr>
      <p:sp>
        <p:nvSpPr>
          <p:cNvPr id="74" name="Google Shape;7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
        <p:cNvGrpSpPr/>
        <p:nvPr/>
      </p:nvGrpSpPr>
      <p:grpSpPr>
        <a:xfrm>
          <a:off x="0" y="0"/>
          <a:ext cx="0" cy="0"/>
          <a:chOff x="0" y="0"/>
          <a:chExt cx="0" cy="0"/>
        </a:xfrm>
      </p:grpSpPr>
      <p:sp>
        <p:nvSpPr>
          <p:cNvPr id="74" name="Google Shape;7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
        <p:cNvGrpSpPr/>
        <p:nvPr/>
      </p:nvGrpSpPr>
      <p:grpSpPr>
        <a:xfrm>
          <a:off x="0" y="0"/>
          <a:ext cx="0" cy="0"/>
          <a:chOff x="0" y="0"/>
          <a:chExt cx="0" cy="0"/>
        </a:xfrm>
      </p:grpSpPr>
      <p:sp>
        <p:nvSpPr>
          <p:cNvPr id="74" name="Google Shape;7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
        <p:cNvGrpSpPr/>
        <p:nvPr/>
      </p:nvGrpSpPr>
      <p:grpSpPr>
        <a:xfrm>
          <a:off x="0" y="0"/>
          <a:ext cx="0" cy="0"/>
          <a:chOff x="0" y="0"/>
          <a:chExt cx="0" cy="0"/>
        </a:xfrm>
      </p:grpSpPr>
      <p:sp>
        <p:nvSpPr>
          <p:cNvPr id="74" name="Google Shape;7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
        <p:cNvGrpSpPr/>
        <p:nvPr/>
      </p:nvGrpSpPr>
      <p:grpSpPr>
        <a:xfrm>
          <a:off x="0" y="0"/>
          <a:ext cx="0" cy="0"/>
          <a:chOff x="0" y="0"/>
          <a:chExt cx="0" cy="0"/>
        </a:xfrm>
      </p:grpSpPr>
      <p:sp>
        <p:nvSpPr>
          <p:cNvPr id="74" name="Google Shape;7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
        <p:cNvGrpSpPr/>
        <p:nvPr/>
      </p:nvGrpSpPr>
      <p:grpSpPr>
        <a:xfrm>
          <a:off x="0" y="0"/>
          <a:ext cx="0" cy="0"/>
          <a:chOff x="0" y="0"/>
          <a:chExt cx="0" cy="0"/>
        </a:xfrm>
      </p:grpSpPr>
      <p:sp>
        <p:nvSpPr>
          <p:cNvPr id="74" name="Google Shape;7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
        <p:cNvGrpSpPr/>
        <p:nvPr/>
      </p:nvGrpSpPr>
      <p:grpSpPr>
        <a:xfrm>
          <a:off x="0" y="0"/>
          <a:ext cx="0" cy="0"/>
          <a:chOff x="0" y="0"/>
          <a:chExt cx="0" cy="0"/>
        </a:xfrm>
      </p:grpSpPr>
      <p:sp>
        <p:nvSpPr>
          <p:cNvPr id="74" name="Google Shape;7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
        <p:cNvGrpSpPr/>
        <p:nvPr/>
      </p:nvGrpSpPr>
      <p:grpSpPr>
        <a:xfrm>
          <a:off x="0" y="0"/>
          <a:ext cx="0" cy="0"/>
          <a:chOff x="0" y="0"/>
          <a:chExt cx="0" cy="0"/>
        </a:xfrm>
      </p:grpSpPr>
      <p:sp>
        <p:nvSpPr>
          <p:cNvPr id="74" name="Google Shape;7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
        <p:cNvGrpSpPr/>
        <p:nvPr/>
      </p:nvGrpSpPr>
      <p:grpSpPr>
        <a:xfrm>
          <a:off x="0" y="0"/>
          <a:ext cx="0" cy="0"/>
          <a:chOff x="0" y="0"/>
          <a:chExt cx="0" cy="0"/>
        </a:xfrm>
      </p:grpSpPr>
      <p:sp>
        <p:nvSpPr>
          <p:cNvPr id="74" name="Google Shape;7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
        <p:cNvGrpSpPr/>
        <p:nvPr/>
      </p:nvGrpSpPr>
      <p:grpSpPr>
        <a:xfrm>
          <a:off x="0" y="0"/>
          <a:ext cx="0" cy="0"/>
          <a:chOff x="0" y="0"/>
          <a:chExt cx="0" cy="0"/>
        </a:xfrm>
      </p:grpSpPr>
      <p:sp>
        <p:nvSpPr>
          <p:cNvPr id="74" name="Google Shape;7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
        <p:cNvGrpSpPr/>
        <p:nvPr/>
      </p:nvGrpSpPr>
      <p:grpSpPr>
        <a:xfrm>
          <a:off x="0" y="0"/>
          <a:ext cx="0" cy="0"/>
          <a:chOff x="0" y="0"/>
          <a:chExt cx="0" cy="0"/>
        </a:xfrm>
      </p:grpSpPr>
      <p:sp>
        <p:nvSpPr>
          <p:cNvPr id="74" name="Google Shape;7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
        <p:cNvGrpSpPr/>
        <p:nvPr/>
      </p:nvGrpSpPr>
      <p:grpSpPr>
        <a:xfrm>
          <a:off x="0" y="0"/>
          <a:ext cx="0" cy="0"/>
          <a:chOff x="0" y="0"/>
          <a:chExt cx="0" cy="0"/>
        </a:xfrm>
      </p:grpSpPr>
      <p:sp>
        <p:nvSpPr>
          <p:cNvPr id="74" name="Google Shape;7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3"/>
        <p:cNvGrpSpPr/>
        <p:nvPr/>
      </p:nvGrpSpPr>
      <p:grpSpPr>
        <a:xfrm>
          <a:off x="0" y="0"/>
          <a:ext cx="0" cy="0"/>
          <a:chOff x="0" y="0"/>
          <a:chExt cx="0" cy="0"/>
        </a:xfrm>
      </p:grpSpPr>
      <p:sp>
        <p:nvSpPr>
          <p:cNvPr id="74" name="Google Shape;7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9"/>
        <p:cNvGrpSpPr/>
        <p:nvPr/>
      </p:nvGrpSpPr>
      <p:grpSpPr>
        <a:xfrm>
          <a:off x="0" y="0"/>
          <a:ext cx="0" cy="0"/>
          <a:chOff x="0" y="0"/>
          <a:chExt cx="0" cy="0"/>
        </a:xfrm>
      </p:grpSpPr>
      <p:sp>
        <p:nvSpPr>
          <p:cNvPr id="210" name="Google Shape;21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1" name="Google Shape;211;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8"/>
        <p:cNvGrpSpPr/>
        <p:nvPr/>
      </p:nvGrpSpPr>
      <p:grpSpPr>
        <a:xfrm>
          <a:off x="0" y="0"/>
          <a:ext cx="0" cy="0"/>
          <a:chOff x="0" y="0"/>
          <a:chExt cx="0" cy="0"/>
        </a:xfrm>
      </p:grpSpPr>
      <p:sp>
        <p:nvSpPr>
          <p:cNvPr id="9" name="Google Shape;9;p2"/>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49803"/>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 name="Google Shape;10;p2"/>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1" name="Google Shape;11;p2"/>
          <p:cNvSpPr txBox="1">
            <a:spLocks noGrp="1"/>
          </p:cNvSpPr>
          <p:nvPr>
            <p:ph type="body" idx="1"/>
          </p:nvPr>
        </p:nvSpPr>
        <p:spPr>
          <a:xfrm>
            <a:off x="720000" y="1152475"/>
            <a:ext cx="7704000" cy="346800"/>
          </a:xfrm>
          <a:prstGeom prst="rect">
            <a:avLst/>
          </a:prstGeom>
          <a:noFill/>
          <a:ln>
            <a:noFill/>
          </a:ln>
        </p:spPr>
        <p:txBody>
          <a:bodyPr spcFirstLastPara="1" wrap="square" lIns="91425" tIns="91425" rIns="91425" bIns="91425" anchor="t" anchorCtr="0">
            <a:noAutofit/>
          </a:bodyPr>
          <a:lstStyle>
            <a:lvl1pPr marL="457200" lvl="0" indent="-317500" algn="ctr">
              <a:lnSpc>
                <a:spcPct val="115000"/>
              </a:lnSpc>
              <a:spcBef>
                <a:spcPts val="0"/>
              </a:spcBef>
              <a:spcAft>
                <a:spcPts val="0"/>
              </a:spcAft>
              <a:buSzPts val="1400"/>
              <a:buChar char="●"/>
              <a:defRPr/>
            </a:lvl1pPr>
            <a:lvl2pPr marL="914400" lvl="1" indent="-304800" algn="l">
              <a:lnSpc>
                <a:spcPct val="115000"/>
              </a:lnSpc>
              <a:spcBef>
                <a:spcPts val="0"/>
              </a:spcBef>
              <a:spcAft>
                <a:spcPts val="0"/>
              </a:spcAft>
              <a:buSzPts val="1200"/>
              <a:buChar char="○"/>
              <a:defRPr/>
            </a:lvl2pPr>
            <a:lvl3pPr marL="1371600" lvl="2" indent="-304800" algn="l">
              <a:lnSpc>
                <a:spcPct val="115000"/>
              </a:lnSpc>
              <a:spcBef>
                <a:spcPts val="0"/>
              </a:spcBef>
              <a:spcAft>
                <a:spcPts val="0"/>
              </a:spcAft>
              <a:buSzPts val="1200"/>
              <a:buChar char="■"/>
              <a:defRPr/>
            </a:lvl3pPr>
            <a:lvl4pPr marL="1828800" lvl="3" indent="-304800" algn="l">
              <a:lnSpc>
                <a:spcPct val="115000"/>
              </a:lnSpc>
              <a:spcBef>
                <a:spcPts val="0"/>
              </a:spcBef>
              <a:spcAft>
                <a:spcPts val="0"/>
              </a:spcAft>
              <a:buSzPts val="1200"/>
              <a:buChar char="●"/>
              <a:defRPr/>
            </a:lvl4pPr>
            <a:lvl5pPr marL="2286000" lvl="4" indent="-304800" algn="l">
              <a:lnSpc>
                <a:spcPct val="115000"/>
              </a:lnSpc>
              <a:spcBef>
                <a:spcPts val="0"/>
              </a:spcBef>
              <a:spcAft>
                <a:spcPts val="0"/>
              </a:spcAft>
              <a:buSzPts val="1200"/>
              <a:buChar char="○"/>
              <a:defRPr/>
            </a:lvl5pPr>
            <a:lvl6pPr marL="2743200" lvl="5" indent="-304800" algn="l">
              <a:lnSpc>
                <a:spcPct val="115000"/>
              </a:lnSpc>
              <a:spcBef>
                <a:spcPts val="0"/>
              </a:spcBef>
              <a:spcAft>
                <a:spcPts val="0"/>
              </a:spcAft>
              <a:buSzPts val="1200"/>
              <a:buChar char="■"/>
              <a:defRPr/>
            </a:lvl6pPr>
            <a:lvl7pPr marL="3200400" lvl="6" indent="-304800" algn="l">
              <a:lnSpc>
                <a:spcPct val="115000"/>
              </a:lnSpc>
              <a:spcBef>
                <a:spcPts val="0"/>
              </a:spcBef>
              <a:spcAft>
                <a:spcPts val="0"/>
              </a:spcAft>
              <a:buSzPts val="1200"/>
              <a:buChar char="●"/>
              <a:defRPr/>
            </a:lvl7pPr>
            <a:lvl8pPr marL="3657600" lvl="7" indent="-304800" algn="l">
              <a:lnSpc>
                <a:spcPct val="115000"/>
              </a:lnSpc>
              <a:spcBef>
                <a:spcPts val="0"/>
              </a:spcBef>
              <a:spcAft>
                <a:spcPts val="0"/>
              </a:spcAft>
              <a:buSzPts val="1200"/>
              <a:buChar char="○"/>
              <a:defRPr/>
            </a:lvl8pPr>
            <a:lvl9pPr marL="4114800" lvl="8" indent="-304800" algn="l">
              <a:lnSpc>
                <a:spcPct val="115000"/>
              </a:lnSpc>
              <a:spcBef>
                <a:spcPts val="0"/>
              </a:spcBef>
              <a:spcAft>
                <a:spcPts val="0"/>
              </a:spcAft>
              <a:buSzPts val="1200"/>
              <a:buChar char="■"/>
              <a:defRPr/>
            </a:lvl9pPr>
          </a:lstStyle>
          <a:p/>
        </p:txBody>
      </p:sp>
      <p:grpSp>
        <p:nvGrpSpPr>
          <p:cNvPr id="12" name="Google Shape;12;p2"/>
          <p:cNvGrpSpPr/>
          <p:nvPr/>
        </p:nvGrpSpPr>
        <p:grpSpPr>
          <a:xfrm flipH="1">
            <a:off x="435875" y="1292300"/>
            <a:ext cx="90900" cy="3705900"/>
            <a:chOff x="7952125" y="1292300"/>
            <a:chExt cx="90900" cy="3705900"/>
          </a:xfrm>
        </p:grpSpPr>
        <p:sp>
          <p:nvSpPr>
            <p:cNvPr id="13" name="Google Shape;13;p2"/>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14" name="Google Shape;14;p2"/>
            <p:cNvCxnSpPr/>
            <p:nvPr/>
          </p:nvCxnSpPr>
          <p:spPr>
            <a:xfrm>
              <a:off x="8043025" y="1292300"/>
              <a:ext cx="0" cy="3705900"/>
            </a:xfrm>
            <a:prstGeom prst="straightConnector1">
              <a:avLst/>
            </a:prstGeom>
            <a:noFill/>
            <a:ln w="9525" cap="flat" cmpd="sng">
              <a:solidFill>
                <a:schemeClr val="dk1"/>
              </a:solidFill>
              <a:prstDash val="solid"/>
              <a:round/>
              <a:headEnd type="none" w="sm" len="sm"/>
              <a:tailEnd type="none" w="sm" len="sm"/>
            </a:ln>
          </p:spPr>
        </p:cxnSp>
      </p:grpSp>
      <p:grpSp>
        <p:nvGrpSpPr>
          <p:cNvPr id="15" name="Google Shape;15;p2"/>
          <p:cNvGrpSpPr/>
          <p:nvPr/>
        </p:nvGrpSpPr>
        <p:grpSpPr>
          <a:xfrm rot="10800000">
            <a:off x="8617225" y="97275"/>
            <a:ext cx="90900" cy="3705900"/>
            <a:chOff x="7952125" y="1292300"/>
            <a:chExt cx="90900" cy="3705900"/>
          </a:xfrm>
        </p:grpSpPr>
        <p:sp>
          <p:nvSpPr>
            <p:cNvPr id="16" name="Google Shape;16;p2"/>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17" name="Google Shape;17;p2"/>
            <p:cNvCxnSpPr/>
            <p:nvPr/>
          </p:nvCxnSpPr>
          <p:spPr>
            <a:xfrm>
              <a:off x="8043025" y="1292300"/>
              <a:ext cx="0" cy="3705900"/>
            </a:xfrm>
            <a:prstGeom prst="straightConnector1">
              <a:avLst/>
            </a:prstGeom>
            <a:noFill/>
            <a:ln w="9525" cap="flat" cmpd="sng">
              <a:solidFill>
                <a:schemeClr val="dk1"/>
              </a:solidFill>
              <a:prstDash val="solid"/>
              <a:round/>
              <a:headEnd type="none" w="sm" len="sm"/>
              <a:tailEnd type="none" w="sm" len="sm"/>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18"/>
        <p:cNvGrpSpPr/>
        <p:nvPr/>
      </p:nvGrpSpPr>
      <p:grpSpPr>
        <a:xfrm>
          <a:off x="0" y="0"/>
          <a:ext cx="0" cy="0"/>
          <a:chOff x="0" y="0"/>
          <a:chExt cx="0" cy="0"/>
        </a:xfrm>
      </p:grpSpPr>
      <p:sp>
        <p:nvSpPr>
          <p:cNvPr id="19" name="Google Shape;19;p3"/>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49803"/>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0" name="Google Shape;20;p3"/>
          <p:cNvSpPr txBox="1">
            <a:spLocks noGrp="1"/>
          </p:cNvSpPr>
          <p:nvPr>
            <p:ph type="subTitle" idx="1"/>
          </p:nvPr>
        </p:nvSpPr>
        <p:spPr>
          <a:xfrm>
            <a:off x="720000" y="2515000"/>
            <a:ext cx="2336400" cy="484800"/>
          </a:xfrm>
          <a:prstGeom prst="rect">
            <a:avLst/>
          </a:prstGeom>
          <a:noFill/>
          <a:ln>
            <a:noFill/>
          </a:ln>
        </p:spPr>
        <p:txBody>
          <a:bodyPr spcFirstLastPara="1" wrap="square" lIns="91425" tIns="91425" rIns="91425" bIns="91425" anchor="b" anchorCtr="0">
            <a:noAutofit/>
          </a:bodyPr>
          <a:lstStyle>
            <a:lvl1pPr lvl="0" algn="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1pPr>
            <a:lvl2pPr lvl="1"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2pPr>
            <a:lvl3pPr lvl="2"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3pPr>
            <a:lvl4pPr lvl="3"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4pPr>
            <a:lvl5pPr lvl="4"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5pPr>
            <a:lvl6pPr lvl="5"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6pPr>
            <a:lvl7pPr lvl="6"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7pPr>
            <a:lvl8pPr lvl="7"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8pPr>
            <a:lvl9pPr lvl="8"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9pPr>
          </a:lstStyle>
          <a:p/>
        </p:txBody>
      </p:sp>
      <p:sp>
        <p:nvSpPr>
          <p:cNvPr id="21" name="Google Shape;21;p3"/>
          <p:cNvSpPr txBox="1">
            <a:spLocks noGrp="1"/>
          </p:cNvSpPr>
          <p:nvPr>
            <p:ph type="subTitle" idx="2"/>
          </p:nvPr>
        </p:nvSpPr>
        <p:spPr>
          <a:xfrm>
            <a:off x="720000" y="2999805"/>
            <a:ext cx="2336400" cy="679500"/>
          </a:xfrm>
          <a:prstGeom prst="rect">
            <a:avLst/>
          </a:prstGeom>
          <a:noFill/>
          <a:ln>
            <a:noFill/>
          </a:ln>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2" name="Google Shape;22;p3"/>
          <p:cNvSpPr txBox="1">
            <a:spLocks noGrp="1"/>
          </p:cNvSpPr>
          <p:nvPr>
            <p:ph type="subTitle" idx="3"/>
          </p:nvPr>
        </p:nvSpPr>
        <p:spPr>
          <a:xfrm>
            <a:off x="3403800" y="2320305"/>
            <a:ext cx="2336400" cy="6795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 name="Google Shape;23;p3"/>
          <p:cNvSpPr txBox="1">
            <a:spLocks noGrp="1"/>
          </p:cNvSpPr>
          <p:nvPr>
            <p:ph type="subTitle" idx="4"/>
          </p:nvPr>
        </p:nvSpPr>
        <p:spPr>
          <a:xfrm>
            <a:off x="6087600" y="2999805"/>
            <a:ext cx="2336400" cy="679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4" name="Google Shape;24;p3"/>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5" name="Google Shape;25;p3"/>
          <p:cNvSpPr txBox="1">
            <a:spLocks noGrp="1"/>
          </p:cNvSpPr>
          <p:nvPr>
            <p:ph type="subTitle" idx="5"/>
          </p:nvPr>
        </p:nvSpPr>
        <p:spPr>
          <a:xfrm>
            <a:off x="3403800" y="1835500"/>
            <a:ext cx="2336400" cy="484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1pPr>
            <a:lvl2pPr lvl="1"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2pPr>
            <a:lvl3pPr lvl="2"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3pPr>
            <a:lvl4pPr lvl="3"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4pPr>
            <a:lvl5pPr lvl="4"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5pPr>
            <a:lvl6pPr lvl="5"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6pPr>
            <a:lvl7pPr lvl="6"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7pPr>
            <a:lvl8pPr lvl="7"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8pPr>
            <a:lvl9pPr lvl="8"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9pPr>
          </a:lstStyle>
          <a:p/>
        </p:txBody>
      </p:sp>
      <p:sp>
        <p:nvSpPr>
          <p:cNvPr id="26" name="Google Shape;26;p3"/>
          <p:cNvSpPr txBox="1">
            <a:spLocks noGrp="1"/>
          </p:cNvSpPr>
          <p:nvPr>
            <p:ph type="subTitle" idx="6"/>
          </p:nvPr>
        </p:nvSpPr>
        <p:spPr>
          <a:xfrm>
            <a:off x="6087600" y="2515000"/>
            <a:ext cx="2336400" cy="484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1pPr>
            <a:lvl2pPr lvl="1"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2pPr>
            <a:lvl3pPr lvl="2"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3pPr>
            <a:lvl4pPr lvl="3"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4pPr>
            <a:lvl5pPr lvl="4"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5pPr>
            <a:lvl6pPr lvl="5"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6pPr>
            <a:lvl7pPr lvl="6"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7pPr>
            <a:lvl8pPr lvl="7"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8pPr>
            <a:lvl9pPr lvl="8" algn="ctr">
              <a:lnSpc>
                <a:spcPct val="100000"/>
              </a:lnSpc>
              <a:spcBef>
                <a:spcPts val="0"/>
              </a:spcBef>
              <a:spcAft>
                <a:spcPts val="0"/>
              </a:spcAft>
              <a:buClr>
                <a:schemeClr val="dk1"/>
              </a:buClr>
              <a:buSzPts val="2400"/>
              <a:buFont typeface="Noto Serif Ethiopic" panose="02020502060505020204"/>
              <a:buNone/>
              <a:defRPr sz="2400">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9pPr>
          </a:lstStyle>
          <a:p/>
        </p:txBody>
      </p:sp>
      <p:grpSp>
        <p:nvGrpSpPr>
          <p:cNvPr id="27" name="Google Shape;27;p3"/>
          <p:cNvGrpSpPr/>
          <p:nvPr/>
        </p:nvGrpSpPr>
        <p:grpSpPr>
          <a:xfrm>
            <a:off x="435875" y="97275"/>
            <a:ext cx="8272250" cy="4900925"/>
            <a:chOff x="435875" y="97275"/>
            <a:chExt cx="8272250" cy="4900925"/>
          </a:xfrm>
        </p:grpSpPr>
        <p:grpSp>
          <p:nvGrpSpPr>
            <p:cNvPr id="28" name="Google Shape;28;p3"/>
            <p:cNvGrpSpPr/>
            <p:nvPr/>
          </p:nvGrpSpPr>
          <p:grpSpPr>
            <a:xfrm flipH="1">
              <a:off x="435875" y="1292300"/>
              <a:ext cx="90900" cy="3705900"/>
              <a:chOff x="7952125" y="1292300"/>
              <a:chExt cx="90900" cy="3705900"/>
            </a:xfrm>
          </p:grpSpPr>
          <p:sp>
            <p:nvSpPr>
              <p:cNvPr id="29" name="Google Shape;29;p3"/>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30" name="Google Shape;30;p3"/>
              <p:cNvCxnSpPr/>
              <p:nvPr/>
            </p:nvCxnSpPr>
            <p:spPr>
              <a:xfrm>
                <a:off x="8043025" y="1292300"/>
                <a:ext cx="0" cy="3705900"/>
              </a:xfrm>
              <a:prstGeom prst="straightConnector1">
                <a:avLst/>
              </a:prstGeom>
              <a:noFill/>
              <a:ln w="9525" cap="flat" cmpd="sng">
                <a:solidFill>
                  <a:schemeClr val="dk1"/>
                </a:solidFill>
                <a:prstDash val="solid"/>
                <a:round/>
                <a:headEnd type="none" w="sm" len="sm"/>
                <a:tailEnd type="none" w="sm" len="sm"/>
              </a:ln>
            </p:spPr>
          </p:cxnSp>
        </p:grpSp>
        <p:grpSp>
          <p:nvGrpSpPr>
            <p:cNvPr id="31" name="Google Shape;31;p3"/>
            <p:cNvGrpSpPr/>
            <p:nvPr/>
          </p:nvGrpSpPr>
          <p:grpSpPr>
            <a:xfrm rot="10800000">
              <a:off x="8617225" y="97275"/>
              <a:ext cx="90900" cy="3705900"/>
              <a:chOff x="7952125" y="1292300"/>
              <a:chExt cx="90900" cy="3705900"/>
            </a:xfrm>
          </p:grpSpPr>
          <p:sp>
            <p:nvSpPr>
              <p:cNvPr id="32" name="Google Shape;32;p3"/>
              <p:cNvSpPr/>
              <p:nvPr/>
            </p:nvSpPr>
            <p:spPr>
              <a:xfrm rot="5400000">
                <a:off x="7744975" y="1499450"/>
                <a:ext cx="505200" cy="9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33" name="Google Shape;33;p3"/>
              <p:cNvCxnSpPr/>
              <p:nvPr/>
            </p:nvCxnSpPr>
            <p:spPr>
              <a:xfrm>
                <a:off x="8043025" y="1292300"/>
                <a:ext cx="0" cy="3705900"/>
              </a:xfrm>
              <a:prstGeom prst="straightConnector1">
                <a:avLst/>
              </a:prstGeom>
              <a:noFill/>
              <a:ln w="9525" cap="flat" cmpd="sng">
                <a:solidFill>
                  <a:schemeClr val="dk1"/>
                </a:solidFill>
                <a:prstDash val="solid"/>
                <a:round/>
                <a:headEnd type="none" w="sm" len="sm"/>
                <a:tailEnd type="none" w="sm" len="sm"/>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5"/>
        <p:cNvGrpSpPr/>
        <p:nvPr/>
      </p:nvGrpSpPr>
      <p:grpSpPr>
        <a:xfrm>
          <a:off x="0" y="0"/>
          <a:ext cx="0" cy="0"/>
          <a:chOff x="0" y="0"/>
          <a:chExt cx="0" cy="0"/>
        </a:xfrm>
      </p:grpSpPr>
      <p:sp>
        <p:nvSpPr>
          <p:cNvPr id="36" name="Google Shape;36;p5"/>
          <p:cNvSpPr/>
          <p:nvPr/>
        </p:nvSpPr>
        <p:spPr>
          <a:xfrm>
            <a:off x="171450" y="145800"/>
            <a:ext cx="8801100" cy="4851900"/>
          </a:xfrm>
          <a:prstGeom prst="rect">
            <a:avLst/>
          </a:prstGeom>
          <a:solidFill>
            <a:schemeClr val="lt1"/>
          </a:solidFill>
          <a:ln>
            <a:noFill/>
          </a:ln>
          <a:effectLst>
            <a:outerShdw blurRad="57150" dist="19050" dir="5400000" algn="bl" rotWithShape="0">
              <a:schemeClr val="dk1">
                <a:alpha val="49803"/>
              </a:scheme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7" name="Google Shape;37;p5"/>
          <p:cNvGrpSpPr/>
          <p:nvPr/>
        </p:nvGrpSpPr>
        <p:grpSpPr>
          <a:xfrm rot="5400000">
            <a:off x="-404625" y="368000"/>
            <a:ext cx="1848600" cy="3697200"/>
            <a:chOff x="1239825" y="-1277100"/>
            <a:chExt cx="1848600" cy="3697200"/>
          </a:xfrm>
        </p:grpSpPr>
        <p:cxnSp>
          <p:nvCxnSpPr>
            <p:cNvPr id="38" name="Google Shape;38;p5"/>
            <p:cNvCxnSpPr/>
            <p:nvPr/>
          </p:nvCxnSpPr>
          <p:spPr>
            <a:xfrm rot="10800000">
              <a:off x="3088425" y="-1277100"/>
              <a:ext cx="0" cy="3697200"/>
            </a:xfrm>
            <a:prstGeom prst="straightConnector1">
              <a:avLst/>
            </a:prstGeom>
            <a:noFill/>
            <a:ln w="9525" cap="flat" cmpd="sng">
              <a:solidFill>
                <a:schemeClr val="dk1"/>
              </a:solidFill>
              <a:prstDash val="solid"/>
              <a:round/>
              <a:headEnd type="none" w="sm" len="sm"/>
              <a:tailEnd type="none" w="sm" len="sm"/>
            </a:ln>
          </p:spPr>
        </p:cxnSp>
        <p:sp>
          <p:nvSpPr>
            <p:cNvPr id="39" name="Google Shape;39;p5"/>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pSp>
        <p:nvGrpSpPr>
          <p:cNvPr id="40" name="Google Shape;40;p5"/>
          <p:cNvGrpSpPr/>
          <p:nvPr/>
        </p:nvGrpSpPr>
        <p:grpSpPr>
          <a:xfrm rot="-5400000">
            <a:off x="7681450" y="1070100"/>
            <a:ext cx="1848600" cy="3697200"/>
            <a:chOff x="1239825" y="-1277100"/>
            <a:chExt cx="1848600" cy="3697200"/>
          </a:xfrm>
        </p:grpSpPr>
        <p:cxnSp>
          <p:nvCxnSpPr>
            <p:cNvPr id="41" name="Google Shape;41;p5"/>
            <p:cNvCxnSpPr/>
            <p:nvPr/>
          </p:nvCxnSpPr>
          <p:spPr>
            <a:xfrm rot="10800000">
              <a:off x="3088425" y="-1277100"/>
              <a:ext cx="0" cy="3697200"/>
            </a:xfrm>
            <a:prstGeom prst="straightConnector1">
              <a:avLst/>
            </a:prstGeom>
            <a:noFill/>
            <a:ln w="9525" cap="flat" cmpd="sng">
              <a:solidFill>
                <a:schemeClr val="dk1"/>
              </a:solidFill>
              <a:prstDash val="solid"/>
              <a:round/>
              <a:headEnd type="none" w="sm" len="sm"/>
              <a:tailEnd type="none" w="sm" len="sm"/>
            </a:ln>
          </p:spPr>
        </p:cxnSp>
        <p:sp>
          <p:nvSpPr>
            <p:cNvPr id="42" name="Google Shape;42;p5"/>
            <p:cNvSpPr/>
            <p:nvPr/>
          </p:nvSpPr>
          <p:spPr>
            <a:xfrm>
              <a:off x="1239825" y="571500"/>
              <a:ext cx="505200" cy="9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chemeClr val="dk1"/>
              </a:buClr>
              <a:buSzPts val="3500"/>
              <a:buFont typeface="Noto Serif Ethiopic" panose="02020502060505020204"/>
              <a:buNone/>
              <a:defRPr sz="3500" b="0" i="0" u="none" strike="noStrike" cap="none">
                <a:solidFill>
                  <a:schemeClr val="dk1"/>
                </a:solidFill>
                <a:latin typeface="Noto Serif Ethiopic" panose="02020502060505020204"/>
                <a:ea typeface="Noto Serif Ethiopic" panose="02020502060505020204"/>
                <a:cs typeface="Noto Serif Ethiopic" panose="02020502060505020204"/>
                <a:sym typeface="Noto Serif Ethiopic" panose="02020502060505020204"/>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04800" algn="l" rtl="0">
              <a:lnSpc>
                <a:spcPct val="100000"/>
              </a:lnSpc>
              <a:spcBef>
                <a:spcPts val="0"/>
              </a:spcBef>
              <a:spcAft>
                <a:spcPts val="0"/>
              </a:spcAft>
              <a:buClr>
                <a:schemeClr val="dk1"/>
              </a:buClr>
              <a:buSzPts val="1200"/>
              <a:buFont typeface="Akatab" panose="02000000000000000000"/>
              <a:buChar char="●"/>
              <a:defRPr sz="1200" b="0" i="0" u="none" strike="noStrike" cap="none">
                <a:solidFill>
                  <a:schemeClr val="dk1"/>
                </a:solidFill>
                <a:latin typeface="Akatab" panose="02000000000000000000"/>
                <a:ea typeface="Akatab" panose="02000000000000000000"/>
                <a:cs typeface="Akatab" panose="02000000000000000000"/>
                <a:sym typeface="Akatab" panose="02000000000000000000"/>
              </a:defRPr>
            </a:lvl1pPr>
            <a:lvl2pPr marL="914400" marR="0" lvl="1" indent="-304800" algn="l" rtl="0">
              <a:lnSpc>
                <a:spcPct val="100000"/>
              </a:lnSpc>
              <a:spcBef>
                <a:spcPts val="1600"/>
              </a:spcBef>
              <a:spcAft>
                <a:spcPts val="0"/>
              </a:spcAft>
              <a:buClr>
                <a:schemeClr val="dk1"/>
              </a:buClr>
              <a:buSzPts val="1200"/>
              <a:buFont typeface="Akatab" panose="02000000000000000000"/>
              <a:buChar char="○"/>
              <a:defRPr sz="1200" b="0" i="0" u="none" strike="noStrike" cap="none">
                <a:solidFill>
                  <a:schemeClr val="dk1"/>
                </a:solidFill>
                <a:latin typeface="Akatab" panose="02000000000000000000"/>
                <a:ea typeface="Akatab" panose="02000000000000000000"/>
                <a:cs typeface="Akatab" panose="02000000000000000000"/>
                <a:sym typeface="Akatab" panose="02000000000000000000"/>
              </a:defRPr>
            </a:lvl2pPr>
            <a:lvl3pPr marL="1371600" marR="0" lvl="2" indent="-304800" algn="l" rtl="0">
              <a:lnSpc>
                <a:spcPct val="100000"/>
              </a:lnSpc>
              <a:spcBef>
                <a:spcPts val="1600"/>
              </a:spcBef>
              <a:spcAft>
                <a:spcPts val="0"/>
              </a:spcAft>
              <a:buClr>
                <a:schemeClr val="dk1"/>
              </a:buClr>
              <a:buSzPts val="1200"/>
              <a:buFont typeface="Akatab" panose="02000000000000000000"/>
              <a:buChar char="■"/>
              <a:defRPr sz="1200" b="0" i="0" u="none" strike="noStrike" cap="none">
                <a:solidFill>
                  <a:schemeClr val="dk1"/>
                </a:solidFill>
                <a:latin typeface="Akatab" panose="02000000000000000000"/>
                <a:ea typeface="Akatab" panose="02000000000000000000"/>
                <a:cs typeface="Akatab" panose="02000000000000000000"/>
                <a:sym typeface="Akatab" panose="02000000000000000000"/>
              </a:defRPr>
            </a:lvl3pPr>
            <a:lvl4pPr marL="1828800" marR="0" lvl="3" indent="-304800" algn="l" rtl="0">
              <a:lnSpc>
                <a:spcPct val="100000"/>
              </a:lnSpc>
              <a:spcBef>
                <a:spcPts val="1600"/>
              </a:spcBef>
              <a:spcAft>
                <a:spcPts val="0"/>
              </a:spcAft>
              <a:buClr>
                <a:schemeClr val="dk1"/>
              </a:buClr>
              <a:buSzPts val="1200"/>
              <a:buFont typeface="Akatab" panose="02000000000000000000"/>
              <a:buChar char="●"/>
              <a:defRPr sz="1200" b="0" i="0" u="none" strike="noStrike" cap="none">
                <a:solidFill>
                  <a:schemeClr val="dk1"/>
                </a:solidFill>
                <a:latin typeface="Akatab" panose="02000000000000000000"/>
                <a:ea typeface="Akatab" panose="02000000000000000000"/>
                <a:cs typeface="Akatab" panose="02000000000000000000"/>
                <a:sym typeface="Akatab" panose="02000000000000000000"/>
              </a:defRPr>
            </a:lvl4pPr>
            <a:lvl5pPr marL="2286000" marR="0" lvl="4" indent="-304800" algn="l" rtl="0">
              <a:lnSpc>
                <a:spcPct val="100000"/>
              </a:lnSpc>
              <a:spcBef>
                <a:spcPts val="1600"/>
              </a:spcBef>
              <a:spcAft>
                <a:spcPts val="0"/>
              </a:spcAft>
              <a:buClr>
                <a:schemeClr val="dk1"/>
              </a:buClr>
              <a:buSzPts val="1200"/>
              <a:buFont typeface="Akatab" panose="02000000000000000000"/>
              <a:buChar char="○"/>
              <a:defRPr sz="1200" b="0" i="0" u="none" strike="noStrike" cap="none">
                <a:solidFill>
                  <a:schemeClr val="dk1"/>
                </a:solidFill>
                <a:latin typeface="Akatab" panose="02000000000000000000"/>
                <a:ea typeface="Akatab" panose="02000000000000000000"/>
                <a:cs typeface="Akatab" panose="02000000000000000000"/>
                <a:sym typeface="Akatab" panose="02000000000000000000"/>
              </a:defRPr>
            </a:lvl5pPr>
            <a:lvl6pPr marL="2743200" marR="0" lvl="5" indent="-304800" algn="l" rtl="0">
              <a:lnSpc>
                <a:spcPct val="100000"/>
              </a:lnSpc>
              <a:spcBef>
                <a:spcPts val="1600"/>
              </a:spcBef>
              <a:spcAft>
                <a:spcPts val="0"/>
              </a:spcAft>
              <a:buClr>
                <a:schemeClr val="dk1"/>
              </a:buClr>
              <a:buSzPts val="1200"/>
              <a:buFont typeface="Akatab" panose="02000000000000000000"/>
              <a:buChar char="■"/>
              <a:defRPr sz="1200" b="0" i="0" u="none" strike="noStrike" cap="none">
                <a:solidFill>
                  <a:schemeClr val="dk1"/>
                </a:solidFill>
                <a:latin typeface="Akatab" panose="02000000000000000000"/>
                <a:ea typeface="Akatab" panose="02000000000000000000"/>
                <a:cs typeface="Akatab" panose="02000000000000000000"/>
                <a:sym typeface="Akatab" panose="02000000000000000000"/>
              </a:defRPr>
            </a:lvl6pPr>
            <a:lvl7pPr marL="3200400" marR="0" lvl="6" indent="-304800" algn="l" rtl="0">
              <a:lnSpc>
                <a:spcPct val="100000"/>
              </a:lnSpc>
              <a:spcBef>
                <a:spcPts val="1600"/>
              </a:spcBef>
              <a:spcAft>
                <a:spcPts val="0"/>
              </a:spcAft>
              <a:buClr>
                <a:schemeClr val="dk1"/>
              </a:buClr>
              <a:buSzPts val="1200"/>
              <a:buFont typeface="Akatab" panose="02000000000000000000"/>
              <a:buChar char="●"/>
              <a:defRPr sz="1200" b="0" i="0" u="none" strike="noStrike" cap="none">
                <a:solidFill>
                  <a:schemeClr val="dk1"/>
                </a:solidFill>
                <a:latin typeface="Akatab" panose="02000000000000000000"/>
                <a:ea typeface="Akatab" panose="02000000000000000000"/>
                <a:cs typeface="Akatab" panose="02000000000000000000"/>
                <a:sym typeface="Akatab" panose="02000000000000000000"/>
              </a:defRPr>
            </a:lvl7pPr>
            <a:lvl8pPr marL="3657600" marR="0" lvl="7" indent="-304800" algn="l" rtl="0">
              <a:lnSpc>
                <a:spcPct val="100000"/>
              </a:lnSpc>
              <a:spcBef>
                <a:spcPts val="1600"/>
              </a:spcBef>
              <a:spcAft>
                <a:spcPts val="0"/>
              </a:spcAft>
              <a:buClr>
                <a:schemeClr val="dk1"/>
              </a:buClr>
              <a:buSzPts val="1200"/>
              <a:buFont typeface="Akatab" panose="02000000000000000000"/>
              <a:buChar char="○"/>
              <a:defRPr sz="1200" b="0" i="0" u="none" strike="noStrike" cap="none">
                <a:solidFill>
                  <a:schemeClr val="dk1"/>
                </a:solidFill>
                <a:latin typeface="Akatab" panose="02000000000000000000"/>
                <a:ea typeface="Akatab" panose="02000000000000000000"/>
                <a:cs typeface="Akatab" panose="02000000000000000000"/>
                <a:sym typeface="Akatab" panose="02000000000000000000"/>
              </a:defRPr>
            </a:lvl8pPr>
            <a:lvl9pPr marL="4114800" marR="0" lvl="8" indent="-304800" algn="l" rtl="0">
              <a:lnSpc>
                <a:spcPct val="100000"/>
              </a:lnSpc>
              <a:spcBef>
                <a:spcPts val="1600"/>
              </a:spcBef>
              <a:spcAft>
                <a:spcPts val="1600"/>
              </a:spcAft>
              <a:buClr>
                <a:schemeClr val="dk1"/>
              </a:buClr>
              <a:buSzPts val="1200"/>
              <a:buFont typeface="Akatab" panose="02000000000000000000"/>
              <a:buChar char="■"/>
              <a:defRPr sz="1200" b="0" i="0" u="none" strike="noStrike" cap="none">
                <a:solidFill>
                  <a:schemeClr val="dk1"/>
                </a:solidFill>
                <a:latin typeface="Akatab" panose="02000000000000000000"/>
                <a:ea typeface="Akatab" panose="02000000000000000000"/>
                <a:cs typeface="Akatab" panose="02000000000000000000"/>
                <a:sym typeface="Akatab" panose="02000000000000000000"/>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pic>
        <p:nvPicPr>
          <p:cNvPr id="55" name="Google Shape;55;p7" descr="C:\Users\ravikanthvarma\Desktop\mlrit.jpg"/>
          <p:cNvPicPr preferRelativeResize="0"/>
          <p:nvPr/>
        </p:nvPicPr>
        <p:blipFill rotWithShape="1">
          <a:blip r:embed="rId1"/>
          <a:srcRect/>
          <a:stretch>
            <a:fillRect/>
          </a:stretch>
        </p:blipFill>
        <p:spPr>
          <a:xfrm>
            <a:off x="1566363" y="361053"/>
            <a:ext cx="5918200" cy="520981"/>
          </a:xfrm>
          <a:prstGeom prst="rect">
            <a:avLst/>
          </a:prstGeom>
          <a:noFill/>
          <a:ln>
            <a:noFill/>
          </a:ln>
        </p:spPr>
      </p:pic>
      <p:sp>
        <p:nvSpPr>
          <p:cNvPr id="56" name="Google Shape;56;p7"/>
          <p:cNvSpPr txBox="1"/>
          <p:nvPr/>
        </p:nvSpPr>
        <p:spPr>
          <a:xfrm>
            <a:off x="898071" y="928201"/>
            <a:ext cx="7472955" cy="1169511"/>
          </a:xfrm>
          <a:prstGeom prst="rect">
            <a:avLst/>
          </a:prstGeom>
          <a:noFill/>
          <a:ln>
            <a:noFill/>
          </a:ln>
        </p:spPr>
        <p:txBody>
          <a:bodyPr spcFirstLastPara="1" wrap="square" lIns="91425" tIns="45700" rIns="91425" bIns="45700" anchor="t" anchorCtr="0">
            <a:spAutoFit/>
          </a:bodyPr>
          <a:lstStyle/>
          <a:p>
            <a:pPr lvl="0" algn="ctr"/>
            <a:r>
              <a:rPr lang="en-US" sz="1800" b="0" i="0" u="none" strike="noStrike" cap="none" dirty="0">
                <a:solidFill>
                  <a:srgbClr val="00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Mini Project Presentation </a:t>
            </a:r>
            <a:endParaRPr lang="en-US" sz="1800"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algn="ctr"/>
            <a:r>
              <a:rPr lang="en-US" sz="1800" b="0" i="0" u="none" strike="noStrike" cap="none"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On</a:t>
            </a:r>
            <a:br>
              <a:rPr lang="en-US" sz="1800" b="0" i="0" u="none" strike="noStrike" cap="none"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br>
            <a:r>
              <a:rPr lang="en-US" sz="1800" b="1" i="0" u="none" strike="noStrike" cap="none"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AI </a:t>
            </a:r>
            <a:r>
              <a:rPr lang="en-US" sz="1800" b="1"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Based Proctoring System  </a:t>
            </a:r>
            <a:endParaRPr lang="en-IN" sz="1800" dirty="0">
              <a:solidFill>
                <a:schemeClr val="bg1">
                  <a:lumMod val="10000"/>
                </a:schemeClr>
              </a:solidFill>
              <a:latin typeface="Times New Roman" panose="02020603050405020304" pitchFamily="18" charset="0"/>
              <a:cs typeface="Times New Roman" panose="02020603050405020304" pitchFamily="18" charset="0"/>
            </a:endParaRPr>
          </a:p>
          <a:p>
            <a:pPr lvl="0" algn="ctr"/>
            <a:endParaRPr lang="en-US" altLang="en-US" sz="1600" b="0" i="0" u="none" strike="noStrike" cap="none" dirty="0">
              <a:solidFill>
                <a:schemeClr val="bg1">
                  <a:lumMod val="10000"/>
                </a:schemeClr>
              </a:solidFill>
              <a:latin typeface="Times New Roman" panose="02020603050405020304" pitchFamily="18" charset="0"/>
              <a:cs typeface="Times New Roman" panose="02020603050405020304" pitchFamily="18" charset="0"/>
              <a:sym typeface="Arial" panose="020B0604020202020204"/>
            </a:endParaRPr>
          </a:p>
        </p:txBody>
      </p:sp>
      <p:sp>
        <p:nvSpPr>
          <p:cNvPr id="57" name="Google Shape;57;p7"/>
          <p:cNvSpPr txBox="1"/>
          <p:nvPr/>
        </p:nvSpPr>
        <p:spPr>
          <a:xfrm>
            <a:off x="462280" y="1861801"/>
            <a:ext cx="7347857" cy="2523727"/>
          </a:xfrm>
          <a:prstGeom prst="rect">
            <a:avLst/>
          </a:prstGeom>
          <a:noFill/>
          <a:ln>
            <a:noFill/>
          </a:ln>
        </p:spPr>
        <p:txBody>
          <a:bodyPr spcFirstLastPara="1" wrap="square" lIns="91425" tIns="45700" rIns="91425" bIns="45700" anchor="t" anchorCtr="0">
            <a:spAutoFit/>
          </a:bodyPr>
          <a:lstStyle/>
          <a:p>
            <a:pPr lvl="1" algn="ctr"/>
            <a:r>
              <a:rPr lang="en-US" sz="1800" spc="-1"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rPr>
              <a:t>       </a:t>
            </a:r>
            <a:r>
              <a:rPr lang="en-US" sz="1800" b="1" dirty="0">
                <a:solidFill>
                  <a:schemeClr val="bg1">
                    <a:lumMod val="10000"/>
                  </a:schemeClr>
                </a:solidFill>
                <a:latin typeface="Times New Roman" panose="02020603050405020304" pitchFamily="18" charset="0"/>
                <a:cs typeface="Times New Roman" panose="02020603050405020304" pitchFamily="18" charset="0"/>
              </a:rPr>
              <a:t>23R21A1272    -  C. RUSHIKA</a:t>
            </a:r>
            <a:endParaRPr lang="en-US" sz="1800" b="1" dirty="0">
              <a:solidFill>
                <a:schemeClr val="bg1">
                  <a:lumMod val="10000"/>
                </a:schemeClr>
              </a:solidFill>
              <a:latin typeface="Times New Roman" panose="02020603050405020304" pitchFamily="18" charset="0"/>
              <a:cs typeface="Times New Roman" panose="02020603050405020304" pitchFamily="18" charset="0"/>
            </a:endParaRPr>
          </a:p>
          <a:p>
            <a:pPr lvl="1" algn="ctr"/>
            <a:r>
              <a:rPr lang="en-US" sz="1800" b="1" dirty="0">
                <a:solidFill>
                  <a:schemeClr val="bg1">
                    <a:lumMod val="10000"/>
                  </a:schemeClr>
                </a:solidFill>
                <a:latin typeface="Times New Roman" panose="02020603050405020304" pitchFamily="18" charset="0"/>
                <a:cs typeface="Times New Roman" panose="02020603050405020304" pitchFamily="18" charset="0"/>
              </a:rPr>
              <a:t>        23R21A1291     -  M. SAI SREE</a:t>
            </a:r>
            <a:endParaRPr lang="en-US" sz="1800" b="1" dirty="0">
              <a:solidFill>
                <a:schemeClr val="bg1">
                  <a:lumMod val="10000"/>
                </a:schemeClr>
              </a:solidFill>
              <a:latin typeface="Times New Roman" panose="02020603050405020304" pitchFamily="18" charset="0"/>
              <a:cs typeface="Times New Roman" panose="02020603050405020304" pitchFamily="18" charset="0"/>
            </a:endParaRPr>
          </a:p>
          <a:p>
            <a:pPr lvl="1" algn="ctr"/>
            <a:r>
              <a:rPr lang="en-US" sz="1800" b="1" dirty="0">
                <a:solidFill>
                  <a:schemeClr val="bg1">
                    <a:lumMod val="10000"/>
                  </a:schemeClr>
                </a:solidFill>
                <a:latin typeface="Times New Roman" panose="02020603050405020304" pitchFamily="18" charset="0"/>
                <a:cs typeface="Times New Roman" panose="02020603050405020304" pitchFamily="18" charset="0"/>
              </a:rPr>
              <a:t>            23R21A12A3    -  N. CHANDANA</a:t>
            </a:r>
            <a:endParaRPr lang="en-US" sz="1800" b="1" dirty="0">
              <a:solidFill>
                <a:schemeClr val="bg1">
                  <a:lumMod val="10000"/>
                </a:schemeClr>
              </a:solidFill>
              <a:latin typeface="Times New Roman" panose="02020603050405020304" pitchFamily="18" charset="0"/>
              <a:cs typeface="Times New Roman" panose="02020603050405020304" pitchFamily="18" charset="0"/>
            </a:endParaRPr>
          </a:p>
          <a:p>
            <a:pPr lvl="1" algn="ctr"/>
            <a:r>
              <a:rPr lang="en-US" sz="1800" b="1" dirty="0">
                <a:solidFill>
                  <a:schemeClr val="bg1">
                    <a:lumMod val="10000"/>
                  </a:schemeClr>
                </a:solidFill>
                <a:latin typeface="Times New Roman" panose="02020603050405020304" pitchFamily="18" charset="0"/>
                <a:cs typeface="Times New Roman" panose="02020603050405020304" pitchFamily="18" charset="0"/>
              </a:rPr>
              <a:t>    24R25A1210     -  M.ROHINI</a:t>
            </a:r>
            <a:endParaRPr lang="en-US" sz="1800" b="1" dirty="0">
              <a:solidFill>
                <a:schemeClr val="bg1">
                  <a:lumMod val="10000"/>
                </a:schemeClr>
              </a:solidFill>
              <a:latin typeface="Times New Roman" panose="02020603050405020304" pitchFamily="18" charset="0"/>
              <a:cs typeface="Times New Roman" panose="02020603050405020304" pitchFamily="18" charset="0"/>
            </a:endParaRPr>
          </a:p>
          <a:p>
            <a:pPr lvl="1" algn="ctr"/>
            <a:endParaRPr lang="en-US" sz="1800" b="1" dirty="0">
              <a:solidFill>
                <a:schemeClr val="bg1">
                  <a:lumMod val="10000"/>
                </a:schemeClr>
              </a:solidFill>
              <a:latin typeface="Times New Roman" panose="02020603050405020304" pitchFamily="18" charset="0"/>
              <a:cs typeface="Times New Roman" panose="02020603050405020304" pitchFamily="18" charset="0"/>
            </a:endParaRPr>
          </a:p>
          <a:p>
            <a:pPr lvl="1" algn="ctr"/>
            <a:endParaRPr lang="en-US" sz="1800" b="1" dirty="0">
              <a:solidFill>
                <a:schemeClr val="bg1">
                  <a:lumMod val="10000"/>
                </a:schemeClr>
              </a:solidFill>
              <a:latin typeface="Times New Roman" panose="02020603050405020304" pitchFamily="18" charset="0"/>
              <a:cs typeface="Times New Roman" panose="02020603050405020304" pitchFamily="18" charset="0"/>
            </a:endParaRPr>
          </a:p>
          <a:p>
            <a:pPr lvl="1" algn="ctr"/>
            <a:endParaRPr lang="en-US" sz="1800" b="1" dirty="0">
              <a:solidFill>
                <a:schemeClr val="bg1">
                  <a:lumMod val="10000"/>
                </a:schemeClr>
              </a:solidFill>
              <a:latin typeface="Times New Roman" panose="02020603050405020304" pitchFamily="18" charset="0"/>
              <a:cs typeface="Times New Roman" panose="02020603050405020304" pitchFamily="18" charset="0"/>
            </a:endParaRPr>
          </a:p>
          <a:p>
            <a:pPr lvl="1" algn="ctr"/>
            <a:endParaRPr lang="en-US" sz="1800" b="1" dirty="0">
              <a:solidFill>
                <a:schemeClr val="bg1">
                  <a:lumMod val="10000"/>
                </a:schemeClr>
              </a:solidFill>
              <a:latin typeface="Times New Roman" panose="02020603050405020304" pitchFamily="18" charset="0"/>
              <a:cs typeface="Times New Roman" panose="02020603050405020304" pitchFamily="18" charset="0"/>
            </a:endParaRPr>
          </a:p>
          <a:p>
            <a:pPr marL="0" marR="0" lvl="0" indent="0" algn="just" rtl="0">
              <a:lnSpc>
                <a:spcPct val="100000"/>
              </a:lnSpc>
              <a:spcBef>
                <a:spcPts val="0"/>
              </a:spcBef>
              <a:spcAft>
                <a:spcPts val="0"/>
              </a:spcAft>
              <a:buNone/>
            </a:pPr>
            <a:endParaRPr lang="pt-BR" dirty="0">
              <a:latin typeface="Times New Roman" panose="02020603050405020304" pitchFamily="18" charset="0"/>
              <a:cs typeface="Times New Roman" panose="02020603050405020304" pitchFamily="18" charset="0"/>
            </a:endParaRPr>
          </a:p>
        </p:txBody>
      </p:sp>
      <p:sp>
        <p:nvSpPr>
          <p:cNvPr id="2" name="Text Box 1"/>
          <p:cNvSpPr txBox="1"/>
          <p:nvPr/>
        </p:nvSpPr>
        <p:spPr>
          <a:xfrm>
            <a:off x="462280" y="4662488"/>
            <a:ext cx="1982340" cy="337185"/>
          </a:xfrm>
          <a:prstGeom prst="rect">
            <a:avLst/>
          </a:prstGeom>
        </p:spPr>
        <p:txBody>
          <a:bodyPr wrap="square">
            <a:spAutoFit/>
          </a:bodyPr>
          <a:lstStyle/>
          <a:p>
            <a:pPr fontAlgn="base">
              <a:spcBef>
                <a:spcPct val="0"/>
              </a:spcBef>
              <a:spcAft>
                <a:spcPct val="0"/>
              </a:spcAft>
            </a:pPr>
            <a:r>
              <a:rPr lang="en-US" altLang="zh-CN" sz="1600" b="0" i="0" dirty="0">
                <a:solidFill>
                  <a:srgbClr val="000000"/>
                </a:solidFill>
                <a:latin typeface="Times New Roman" panose="02020603050405020304" pitchFamily="18" charset="0"/>
                <a:ea typeface="Times New Roman" panose="02020603050405020304"/>
                <a:cs typeface="Times New Roman" panose="02020603050405020304" pitchFamily="18" charset="0"/>
              </a:rPr>
              <a:t>Team No: 15</a:t>
            </a:r>
            <a:endParaRPr lang="en-US" altLang="zh-CN" sz="1600" b="0" i="0" dirty="0">
              <a:solidFill>
                <a:srgbClr val="FF0000"/>
              </a:solidFill>
              <a:latin typeface="Times New Roman" panose="02020603050405020304" pitchFamily="18" charset="0"/>
              <a:ea typeface="Times New Roman" panose="02020603050405020304"/>
              <a:cs typeface="Times New Roman" panose="02020603050405020304" pitchFamily="18" charset="0"/>
            </a:endParaRPr>
          </a:p>
        </p:txBody>
      </p:sp>
      <p:sp>
        <p:nvSpPr>
          <p:cNvPr id="3" name="Rectangle 2"/>
          <p:cNvSpPr/>
          <p:nvPr/>
        </p:nvSpPr>
        <p:spPr>
          <a:xfrm>
            <a:off x="7949725" y="4691896"/>
            <a:ext cx="811376" cy="307777"/>
          </a:xfrm>
          <a:prstGeom prst="rect">
            <a:avLst/>
          </a:prstGeom>
        </p:spPr>
        <p:txBody>
          <a:bodyPr wrap="none">
            <a:spAutoFit/>
          </a:bodyPr>
          <a:lstStyle/>
          <a:p>
            <a:pPr>
              <a:tabLst>
                <a:tab pos="0" algn="l"/>
              </a:tabLst>
            </a:pPr>
            <a:r>
              <a:rPr lang="en-US" spc="-1" dirty="0">
                <a:latin typeface="Times New Roman" panose="02020603050405020304" pitchFamily="18" charset="0"/>
                <a:cs typeface="Times New Roman" panose="02020603050405020304" pitchFamily="18" charset="0"/>
              </a:rPr>
              <a:t>            1</a:t>
            </a:r>
            <a:endParaRPr lang="en-IN" spc="-1" dirty="0">
              <a:latin typeface="Times New Roman" panose="02020603050405020304" pitchFamily="18" charset="0"/>
              <a:cs typeface="Times New Roman" panose="02020603050405020304" pitchFamily="18" charset="0"/>
            </a:endParaRPr>
          </a:p>
        </p:txBody>
      </p:sp>
      <p:sp>
        <p:nvSpPr>
          <p:cNvPr id="5" name="Google Shape;57;p7"/>
          <p:cNvSpPr txBox="1"/>
          <p:nvPr/>
        </p:nvSpPr>
        <p:spPr>
          <a:xfrm>
            <a:off x="898071" y="3077479"/>
            <a:ext cx="7347857" cy="1538842"/>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endParaRPr lang="en-IN" sz="1100" spc="-1" dirty="0">
              <a:solidFill>
                <a:schemeClr val="bg1">
                  <a:lumMod val="10000"/>
                </a:schemeClr>
              </a:solidFill>
              <a:latin typeface="Times New Roman" panose="02020603050405020304" pitchFamily="18" charset="0"/>
              <a:cs typeface="Times New Roman" panose="02020603050405020304" pitchFamily="18" charset="0"/>
            </a:endParaRPr>
          </a:p>
          <a:p>
            <a:pPr marL="0" marR="0" lvl="0" indent="0" algn="just" rtl="0">
              <a:lnSpc>
                <a:spcPct val="100000"/>
              </a:lnSpc>
              <a:spcBef>
                <a:spcPts val="0"/>
              </a:spcBef>
              <a:spcAft>
                <a:spcPts val="0"/>
              </a:spcAft>
              <a:buNone/>
            </a:pPr>
            <a:endParaRPr lang="en-IN" sz="1100" spc="-1" dirty="0">
              <a:solidFill>
                <a:schemeClr val="bg1">
                  <a:lumMod val="10000"/>
                </a:schemeClr>
              </a:solidFill>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None/>
            </a:pPr>
            <a:r>
              <a:rPr lang="en-US" sz="1800" i="0" u="none" strike="noStrike" cap="none"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Under the Guidance of</a:t>
            </a:r>
            <a:endParaRPr dirty="0">
              <a:solidFill>
                <a:schemeClr val="bg1">
                  <a:lumMod val="10000"/>
                </a:schemeClr>
              </a:solidFill>
              <a:latin typeface="Times New Roman" panose="02020603050405020304" pitchFamily="18" charset="0"/>
              <a:cs typeface="Times New Roman" panose="02020603050405020304" pitchFamily="18" charset="0"/>
            </a:endParaRPr>
          </a:p>
          <a:p>
            <a:pPr algn="ctr">
              <a:tabLst>
                <a:tab pos="0" algn="l"/>
              </a:tabLst>
            </a:pPr>
            <a:r>
              <a:rPr lang="en-US" sz="1800" spc="-1" dirty="0" err="1">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rPr>
              <a:t>Mrs.J.Adilakshmi</a:t>
            </a:r>
            <a:endParaRPr lang="en-US" sz="1800" spc="-1"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endParaRPr>
          </a:p>
          <a:p>
            <a:pPr algn="ctr">
              <a:tabLst>
                <a:tab pos="0" algn="l"/>
              </a:tabLst>
            </a:pPr>
            <a:r>
              <a:rPr lang="en-US" sz="1800" spc="-1" dirty="0">
                <a:solidFill>
                  <a:schemeClr val="bg1">
                    <a:lumMod val="10000"/>
                  </a:schemeClr>
                </a:solidFill>
                <a:latin typeface="Times New Roman" panose="02020603050405020304" pitchFamily="18" charset="0"/>
                <a:cs typeface="Times New Roman" panose="02020603050405020304" pitchFamily="18" charset="0"/>
              </a:rPr>
              <a:t>Assistant Professor </a:t>
            </a:r>
            <a:endParaRPr lang="en-US" sz="1200" b="0" i="0" u="none" strike="noStrike" cap="none"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marR="0" lvl="0" indent="0" algn="ctr" rtl="0">
              <a:lnSpc>
                <a:spcPct val="100000"/>
              </a:lnSpc>
              <a:spcBef>
                <a:spcPts val="0"/>
              </a:spcBef>
              <a:spcAft>
                <a:spcPts val="0"/>
              </a:spcAft>
              <a:buNone/>
            </a:pPr>
            <a:r>
              <a:rPr lang="en-US" sz="1800" b="0" i="0" u="none" strike="noStrike" cap="none"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Department of Information Technology</a:t>
            </a:r>
            <a:endParaRPr sz="1800" dirty="0">
              <a:solidFill>
                <a:schemeClr val="bg1">
                  <a:lumMod val="1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8"/>
          <p:cNvSpPr txBox="1"/>
          <p:nvPr/>
        </p:nvSpPr>
        <p:spPr>
          <a:xfrm>
            <a:off x="2791693" y="143827"/>
            <a:ext cx="3560613" cy="574176"/>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chemeClr val="dk1"/>
              </a:buClr>
              <a:buSzPts val="5200"/>
              <a:buFont typeface="Noto Serif Ethiopic" panose="02020502060505020204"/>
              <a:buNone/>
            </a:pPr>
            <a:r>
              <a:rPr lang="en-US" sz="3000" b="0" i="0" u="none" strike="noStrike" cap="none" dirty="0">
                <a:solidFill>
                  <a:schemeClr val="dk1"/>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CONTENTS</a:t>
            </a:r>
            <a:endParaRPr sz="3000" b="0" i="0" u="none" strike="noStrike" cap="none" dirty="0">
              <a:solidFill>
                <a:schemeClr val="dk1"/>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endParaRPr>
          </a:p>
        </p:txBody>
      </p:sp>
      <p:sp>
        <p:nvSpPr>
          <p:cNvPr id="3" name="Text Box 2"/>
          <p:cNvSpPr txBox="1"/>
          <p:nvPr/>
        </p:nvSpPr>
        <p:spPr>
          <a:xfrm>
            <a:off x="462280" y="4691896"/>
            <a:ext cx="4942344" cy="338554"/>
          </a:xfrm>
          <a:prstGeom prst="rect">
            <a:avLst/>
          </a:prstGeom>
        </p:spPr>
        <p:txBody>
          <a:bodyPr wrap="square">
            <a:spAutoFit/>
          </a:bodyPr>
          <a:lstStyle/>
          <a:p>
            <a:pPr fontAlgn="base">
              <a:spcBef>
                <a:spcPct val="0"/>
              </a:spcBef>
              <a:spcAft>
                <a:spcPct val="0"/>
              </a:spcAft>
            </a:pPr>
            <a:r>
              <a:rPr lang="en-US" altLang="zh-CN" sz="1600" dirty="0">
                <a:latin typeface="Times New Roman" panose="02020603050405020304" pitchFamily="18" charset="0"/>
                <a:ea typeface="Times New Roman" panose="02020603050405020304"/>
                <a:cs typeface="Times New Roman" panose="02020603050405020304" pitchFamily="18" charset="0"/>
                <a:sym typeface="+mn-ea"/>
              </a:rPr>
              <a:t>Team No: 15</a:t>
            </a:r>
            <a:endParaRPr lang="en-US" altLang="zh-CN" sz="1600" b="0" i="0" dirty="0">
              <a:solidFill>
                <a:srgbClr val="FF0000"/>
              </a:solidFill>
              <a:latin typeface="Times New Roman" panose="02020603050405020304" pitchFamily="18" charset="0"/>
              <a:ea typeface="Times New Roman" panose="02020603050405020304"/>
              <a:cs typeface="Times New Roman" panose="02020603050405020304" pitchFamily="18" charset="0"/>
            </a:endParaRPr>
          </a:p>
        </p:txBody>
      </p:sp>
      <p:sp>
        <p:nvSpPr>
          <p:cNvPr id="4" name="Rectangle 3"/>
          <p:cNvSpPr/>
          <p:nvPr/>
        </p:nvSpPr>
        <p:spPr>
          <a:xfrm>
            <a:off x="8479931" y="4691896"/>
            <a:ext cx="774218" cy="307777"/>
          </a:xfrm>
          <a:prstGeom prst="rect">
            <a:avLst/>
          </a:prstGeom>
        </p:spPr>
        <p:txBody>
          <a:bodyPr wrap="square">
            <a:spAutoFit/>
          </a:bodyPr>
          <a:lstStyle/>
          <a:p>
            <a:pPr>
              <a:tabLst>
                <a:tab pos="0" algn="l"/>
              </a:tabLst>
            </a:pPr>
            <a:r>
              <a:rPr lang="en-US" spc="-1" dirty="0">
                <a:latin typeface="Times New Roman" panose="02020603050405020304" pitchFamily="18" charset="0"/>
                <a:cs typeface="Times New Roman" panose="02020603050405020304" pitchFamily="18" charset="0"/>
              </a:rPr>
              <a:t>2</a:t>
            </a:r>
            <a:endParaRPr lang="en-IN" spc="-1" dirty="0">
              <a:latin typeface="Times New Roman" panose="02020603050405020304" pitchFamily="18" charset="0"/>
              <a:cs typeface="Times New Roman" panose="02020603050405020304" pitchFamily="18" charset="0"/>
            </a:endParaRPr>
          </a:p>
        </p:txBody>
      </p:sp>
      <p:sp>
        <p:nvSpPr>
          <p:cNvPr id="5" name="Google Shape;65;p8"/>
          <p:cNvSpPr txBox="1"/>
          <p:nvPr/>
        </p:nvSpPr>
        <p:spPr>
          <a:xfrm>
            <a:off x="816479" y="1190729"/>
            <a:ext cx="7286555" cy="4133893"/>
          </a:xfrm>
          <a:prstGeom prst="rect">
            <a:avLst/>
          </a:prstGeom>
          <a:noFill/>
          <a:ln>
            <a:noFill/>
          </a:ln>
        </p:spPr>
        <p:txBody>
          <a:bodyPr spcFirstLastPara="1" wrap="square" lIns="91425" tIns="91425" rIns="91425" bIns="91425" numCol="1" anchor="t" anchorCtr="0">
            <a:noAutofit/>
          </a:bodyPr>
          <a:lstStyle/>
          <a:p>
            <a:pPr marL="285750" indent="-285750">
              <a:spcAft>
                <a:spcPts val="300"/>
              </a:spcAft>
              <a:buFont typeface="Arial" panose="020B0604020202020204"/>
              <a:buChar char="•"/>
            </a:pPr>
            <a:r>
              <a:rPr lang="en-US" spc="-1" dirty="0">
                <a:solidFill>
                  <a:schemeClr val="bg1">
                    <a:lumMod val="10000"/>
                  </a:schemeClr>
                </a:solidFill>
                <a:latin typeface="Times New Roman" panose="02020603050405020304"/>
                <a:sym typeface="+mn-ea"/>
              </a:rPr>
              <a:t>Abstract</a:t>
            </a:r>
            <a:endParaRPr lang="en-US" spc="-1" dirty="0">
              <a:solidFill>
                <a:schemeClr val="bg1">
                  <a:lumMod val="10000"/>
                </a:schemeClr>
              </a:solidFill>
              <a:latin typeface="Times New Roman" panose="02020603050405020304"/>
              <a:ea typeface="Times New Roman" panose="02020603050405020304"/>
            </a:endParaRPr>
          </a:p>
          <a:p>
            <a:pPr marL="285750" indent="-285750">
              <a:spcAft>
                <a:spcPts val="300"/>
              </a:spcAft>
              <a:buFont typeface="Arial" panose="020B0604020202020204"/>
              <a:buChar char="•"/>
            </a:pPr>
            <a:r>
              <a:rPr lang="en-US" spc="-1" dirty="0">
                <a:solidFill>
                  <a:schemeClr val="bg1">
                    <a:lumMod val="10000"/>
                  </a:schemeClr>
                </a:solidFill>
                <a:latin typeface="Times New Roman" panose="02020603050405020304"/>
                <a:ea typeface="Times New Roman" panose="02020603050405020304"/>
              </a:rPr>
              <a:t>Introduction</a:t>
            </a:r>
            <a:endParaRPr lang="en-US" spc="-1" dirty="0">
              <a:solidFill>
                <a:schemeClr val="bg1">
                  <a:lumMod val="10000"/>
                </a:schemeClr>
              </a:solidFill>
              <a:latin typeface="Times New Roman" panose="02020603050405020304"/>
              <a:ea typeface="Times New Roman" panose="02020603050405020304"/>
            </a:endParaRPr>
          </a:p>
          <a:p>
            <a:pPr marL="285750" indent="-285750">
              <a:spcAft>
                <a:spcPts val="300"/>
              </a:spcAft>
              <a:buFont typeface="Arial" panose="020B0604020202020204"/>
              <a:buChar char="•"/>
            </a:pPr>
            <a:r>
              <a:rPr lang="en-US" spc="-1" dirty="0">
                <a:solidFill>
                  <a:schemeClr val="bg1">
                    <a:lumMod val="10000"/>
                  </a:schemeClr>
                </a:solidFill>
                <a:latin typeface="Times New Roman" panose="02020603050405020304"/>
                <a:ea typeface="Times New Roman" panose="02020603050405020304"/>
              </a:rPr>
              <a:t>Literature Survey</a:t>
            </a:r>
            <a:endParaRPr lang="en-US" spc="-1" dirty="0">
              <a:solidFill>
                <a:schemeClr val="bg1">
                  <a:lumMod val="10000"/>
                </a:schemeClr>
              </a:solidFill>
              <a:latin typeface="Times New Roman" panose="02020603050405020304"/>
              <a:ea typeface="Times New Roman" panose="02020603050405020304"/>
            </a:endParaRPr>
          </a:p>
          <a:p>
            <a:pPr marL="285750" indent="-285750">
              <a:spcAft>
                <a:spcPts val="300"/>
              </a:spcAft>
              <a:buFont typeface="Arial" panose="020B0604020202020204"/>
              <a:buChar char="•"/>
            </a:pPr>
            <a:r>
              <a:rPr lang="en-US" spc="-1" dirty="0">
                <a:solidFill>
                  <a:schemeClr val="bg1">
                    <a:lumMod val="10000"/>
                  </a:schemeClr>
                </a:solidFill>
                <a:latin typeface="Times New Roman" panose="02020603050405020304"/>
                <a:ea typeface="Times New Roman" panose="02020603050405020304"/>
              </a:rPr>
              <a:t>Objectives</a:t>
            </a:r>
            <a:endParaRPr lang="en-US" spc="-1" dirty="0">
              <a:solidFill>
                <a:schemeClr val="bg1">
                  <a:lumMod val="10000"/>
                </a:schemeClr>
              </a:solidFill>
            </a:endParaRPr>
          </a:p>
          <a:p>
            <a:pPr marL="285750" indent="-285750">
              <a:spcAft>
                <a:spcPts val="300"/>
              </a:spcAft>
              <a:buFont typeface="Arial" panose="020B0604020202020204"/>
              <a:buChar char="•"/>
            </a:pPr>
            <a:r>
              <a:rPr lang="en-US" spc="-1" dirty="0">
                <a:solidFill>
                  <a:schemeClr val="bg1">
                    <a:lumMod val="10000"/>
                  </a:schemeClr>
                </a:solidFill>
                <a:latin typeface="Times New Roman" panose="02020603050405020304"/>
                <a:ea typeface="Times New Roman" panose="02020603050405020304"/>
              </a:rPr>
              <a:t>Existing System </a:t>
            </a:r>
            <a:r>
              <a:rPr lang="en-US" spc="-35" dirty="0">
                <a:solidFill>
                  <a:schemeClr val="bg1">
                    <a:lumMod val="10000"/>
                  </a:schemeClr>
                </a:solidFill>
                <a:latin typeface="Times New Roman" panose="02020603050405020304"/>
                <a:cs typeface="Times New Roman" panose="02020603050405020304"/>
                <a:sym typeface="+mn-ea"/>
              </a:rPr>
              <a:t> </a:t>
            </a:r>
            <a:r>
              <a:rPr lang="en-US" dirty="0">
                <a:solidFill>
                  <a:schemeClr val="bg1">
                    <a:lumMod val="10000"/>
                  </a:schemeClr>
                </a:solidFill>
                <a:latin typeface="Times New Roman" panose="02020603050405020304"/>
                <a:cs typeface="Times New Roman" panose="02020603050405020304"/>
                <a:sym typeface="+mn-ea"/>
              </a:rPr>
              <a:t>&amp;</a:t>
            </a:r>
            <a:r>
              <a:rPr lang="en-US" spc="-20" dirty="0">
                <a:solidFill>
                  <a:schemeClr val="bg1">
                    <a:lumMod val="10000"/>
                  </a:schemeClr>
                </a:solidFill>
                <a:latin typeface="Times New Roman" panose="02020603050405020304"/>
                <a:cs typeface="Times New Roman" panose="02020603050405020304"/>
                <a:sym typeface="+mn-ea"/>
              </a:rPr>
              <a:t> </a:t>
            </a:r>
            <a:r>
              <a:rPr lang="en-US" spc="-10" dirty="0">
                <a:solidFill>
                  <a:schemeClr val="bg1">
                    <a:lumMod val="10000"/>
                  </a:schemeClr>
                </a:solidFill>
                <a:latin typeface="Times New Roman" panose="02020603050405020304"/>
                <a:cs typeface="Times New Roman" panose="02020603050405020304"/>
                <a:sym typeface="+mn-ea"/>
              </a:rPr>
              <a:t>Disadvantages</a:t>
            </a:r>
            <a:endParaRPr lang="en-US" spc="-1" dirty="0">
              <a:solidFill>
                <a:schemeClr val="bg1">
                  <a:lumMod val="10000"/>
                </a:schemeClr>
              </a:solidFill>
            </a:endParaRPr>
          </a:p>
          <a:p>
            <a:pPr marL="285750" indent="-285750">
              <a:spcAft>
                <a:spcPts val="300"/>
              </a:spcAft>
              <a:buFont typeface="Arial" panose="020B0604020202020204"/>
              <a:buChar char="•"/>
            </a:pPr>
            <a:r>
              <a:rPr lang="en-US" spc="-1" dirty="0">
                <a:solidFill>
                  <a:schemeClr val="bg1">
                    <a:lumMod val="10000"/>
                  </a:schemeClr>
                </a:solidFill>
                <a:latin typeface="Times New Roman" panose="02020603050405020304"/>
                <a:ea typeface="Times New Roman" panose="02020603050405020304"/>
              </a:rPr>
              <a:t>Proposed System </a:t>
            </a:r>
            <a:r>
              <a:rPr lang="en-US" dirty="0">
                <a:solidFill>
                  <a:schemeClr val="bg1">
                    <a:lumMod val="10000"/>
                  </a:schemeClr>
                </a:solidFill>
                <a:latin typeface="Times New Roman" panose="02020603050405020304"/>
                <a:cs typeface="Times New Roman" panose="02020603050405020304"/>
                <a:sym typeface="+mn-ea"/>
              </a:rPr>
              <a:t>&amp;</a:t>
            </a:r>
            <a:r>
              <a:rPr lang="en-US" spc="-20" dirty="0">
                <a:solidFill>
                  <a:schemeClr val="bg1">
                    <a:lumMod val="10000"/>
                  </a:schemeClr>
                </a:solidFill>
                <a:latin typeface="Times New Roman" panose="02020603050405020304"/>
                <a:cs typeface="Times New Roman" panose="02020603050405020304"/>
                <a:sym typeface="+mn-ea"/>
              </a:rPr>
              <a:t> </a:t>
            </a:r>
            <a:r>
              <a:rPr lang="en-US" spc="-10" dirty="0">
                <a:solidFill>
                  <a:schemeClr val="bg1">
                    <a:lumMod val="10000"/>
                  </a:schemeClr>
                </a:solidFill>
                <a:latin typeface="Times New Roman" panose="02020603050405020304"/>
                <a:cs typeface="Times New Roman" panose="02020603050405020304"/>
                <a:sym typeface="+mn-ea"/>
              </a:rPr>
              <a:t>Advantages</a:t>
            </a:r>
            <a:endParaRPr lang="en-US" spc="-10" dirty="0">
              <a:solidFill>
                <a:schemeClr val="bg1">
                  <a:lumMod val="10000"/>
                </a:schemeClr>
              </a:solidFill>
              <a:latin typeface="Times New Roman" panose="02020603050405020304"/>
              <a:cs typeface="Times New Roman" panose="02020603050405020304"/>
              <a:sym typeface="+mn-ea"/>
            </a:endParaRPr>
          </a:p>
          <a:p>
            <a:pPr marL="285750" indent="-285750">
              <a:spcAft>
                <a:spcPts val="300"/>
              </a:spcAft>
              <a:buFont typeface="Arial" panose="020B0604020202020204" pitchFamily="34" charset="0"/>
              <a:buChar char="•"/>
              <a:tabLst>
                <a:tab pos="299085" algn="l"/>
              </a:tabLst>
            </a:pPr>
            <a:r>
              <a:rPr lang="en-US" dirty="0">
                <a:solidFill>
                  <a:schemeClr val="bg1">
                    <a:lumMod val="10000"/>
                  </a:schemeClr>
                </a:solidFill>
                <a:latin typeface="Times New Roman" panose="02020603050405020304"/>
                <a:cs typeface="Times New Roman" panose="02020603050405020304"/>
                <a:sym typeface="+mn-ea"/>
              </a:rPr>
              <a:t>Architecture</a:t>
            </a:r>
            <a:r>
              <a:rPr lang="en-US" spc="-75" dirty="0">
                <a:solidFill>
                  <a:schemeClr val="bg1">
                    <a:lumMod val="10000"/>
                  </a:schemeClr>
                </a:solidFill>
                <a:latin typeface="Times New Roman" panose="02020603050405020304"/>
                <a:cs typeface="Times New Roman" panose="02020603050405020304"/>
                <a:sym typeface="+mn-ea"/>
              </a:rPr>
              <a:t> </a:t>
            </a:r>
            <a:r>
              <a:rPr lang="en-US" spc="-10" dirty="0">
                <a:solidFill>
                  <a:schemeClr val="bg1">
                    <a:lumMod val="10000"/>
                  </a:schemeClr>
                </a:solidFill>
                <a:latin typeface="Times New Roman" panose="02020603050405020304"/>
                <a:cs typeface="Times New Roman" panose="02020603050405020304"/>
                <a:sym typeface="+mn-ea"/>
              </a:rPr>
              <a:t>Diagram</a:t>
            </a:r>
            <a:endParaRPr lang="en-US" spc="-10" dirty="0">
              <a:solidFill>
                <a:schemeClr val="bg1">
                  <a:lumMod val="10000"/>
                </a:schemeClr>
              </a:solidFill>
              <a:latin typeface="Times New Roman" panose="02020603050405020304"/>
              <a:cs typeface="Times New Roman" panose="02020603050405020304"/>
              <a:sym typeface="+mn-ea"/>
            </a:endParaRPr>
          </a:p>
          <a:p>
            <a:pPr marL="285750" indent="-285750">
              <a:spcAft>
                <a:spcPts val="300"/>
              </a:spcAft>
              <a:buFont typeface="Arial" panose="020B0604020202020204" pitchFamily="34" charset="0"/>
              <a:buChar char="•"/>
              <a:tabLst>
                <a:tab pos="299085" algn="l"/>
              </a:tabLst>
            </a:pPr>
            <a:r>
              <a:rPr lang="en-US" dirty="0">
                <a:solidFill>
                  <a:schemeClr val="bg1">
                    <a:lumMod val="10000"/>
                  </a:schemeClr>
                </a:solidFill>
                <a:latin typeface="Times New Roman" panose="02020603050405020304"/>
                <a:cs typeface="Times New Roman" panose="02020603050405020304"/>
                <a:sym typeface="+mn-ea"/>
              </a:rPr>
              <a:t>System</a:t>
            </a:r>
            <a:r>
              <a:rPr lang="en-US" spc="-30" dirty="0">
                <a:solidFill>
                  <a:schemeClr val="bg1">
                    <a:lumMod val="10000"/>
                  </a:schemeClr>
                </a:solidFill>
                <a:latin typeface="Times New Roman" panose="02020603050405020304"/>
                <a:cs typeface="Times New Roman" panose="02020603050405020304"/>
                <a:sym typeface="+mn-ea"/>
              </a:rPr>
              <a:t> </a:t>
            </a:r>
            <a:r>
              <a:rPr lang="en-US" dirty="0">
                <a:solidFill>
                  <a:schemeClr val="bg1">
                    <a:lumMod val="10000"/>
                  </a:schemeClr>
                </a:solidFill>
                <a:latin typeface="Times New Roman" panose="02020603050405020304"/>
                <a:cs typeface="Times New Roman" panose="02020603050405020304"/>
                <a:sym typeface="+mn-ea"/>
              </a:rPr>
              <a:t>Requirements</a:t>
            </a:r>
            <a:r>
              <a:rPr lang="en-US" spc="-45" dirty="0">
                <a:solidFill>
                  <a:schemeClr val="bg1">
                    <a:lumMod val="10000"/>
                  </a:schemeClr>
                </a:solidFill>
                <a:latin typeface="Times New Roman" panose="02020603050405020304"/>
                <a:cs typeface="Times New Roman" panose="02020603050405020304"/>
                <a:sym typeface="+mn-ea"/>
              </a:rPr>
              <a:t> </a:t>
            </a:r>
            <a:r>
              <a:rPr lang="en-US" dirty="0">
                <a:solidFill>
                  <a:schemeClr val="bg1">
                    <a:lumMod val="10000"/>
                  </a:schemeClr>
                </a:solidFill>
                <a:latin typeface="Times New Roman" panose="02020603050405020304"/>
                <a:cs typeface="Times New Roman" panose="02020603050405020304"/>
                <a:sym typeface="+mn-ea"/>
              </a:rPr>
              <a:t>(H/W</a:t>
            </a:r>
            <a:r>
              <a:rPr lang="en-US" spc="-35" dirty="0">
                <a:solidFill>
                  <a:schemeClr val="bg1">
                    <a:lumMod val="10000"/>
                  </a:schemeClr>
                </a:solidFill>
                <a:latin typeface="Times New Roman" panose="02020603050405020304"/>
                <a:cs typeface="Times New Roman" panose="02020603050405020304"/>
                <a:sym typeface="+mn-ea"/>
              </a:rPr>
              <a:t> </a:t>
            </a:r>
            <a:r>
              <a:rPr lang="en-US" dirty="0">
                <a:solidFill>
                  <a:schemeClr val="bg1">
                    <a:lumMod val="10000"/>
                  </a:schemeClr>
                </a:solidFill>
                <a:latin typeface="Times New Roman" panose="02020603050405020304"/>
                <a:cs typeface="Times New Roman" panose="02020603050405020304"/>
                <a:sym typeface="+mn-ea"/>
              </a:rPr>
              <a:t>&amp;</a:t>
            </a:r>
            <a:r>
              <a:rPr lang="en-US" spc="-20" dirty="0">
                <a:solidFill>
                  <a:schemeClr val="bg1">
                    <a:lumMod val="10000"/>
                  </a:schemeClr>
                </a:solidFill>
                <a:latin typeface="Times New Roman" panose="02020603050405020304"/>
                <a:cs typeface="Times New Roman" panose="02020603050405020304"/>
                <a:sym typeface="+mn-ea"/>
              </a:rPr>
              <a:t> S/W)</a:t>
            </a:r>
            <a:endParaRPr lang="en-US" dirty="0">
              <a:solidFill>
                <a:schemeClr val="bg1">
                  <a:lumMod val="10000"/>
                </a:schemeClr>
              </a:solidFill>
              <a:latin typeface="Times New Roman" panose="02020603050405020304"/>
              <a:cs typeface="Times New Roman" panose="02020603050405020304"/>
            </a:endParaRPr>
          </a:p>
          <a:p>
            <a:pPr marL="285750" indent="-285750">
              <a:spcAft>
                <a:spcPts val="300"/>
              </a:spcAft>
              <a:buFont typeface="Arial" panose="020B0604020202020204" pitchFamily="34" charset="0"/>
              <a:buChar char="•"/>
              <a:tabLst>
                <a:tab pos="299085" algn="l"/>
              </a:tabLst>
            </a:pPr>
            <a:r>
              <a:rPr lang="en-US" spc="-10" dirty="0">
                <a:solidFill>
                  <a:schemeClr val="bg1">
                    <a:lumMod val="10000"/>
                  </a:schemeClr>
                </a:solidFill>
                <a:latin typeface="Times New Roman" panose="02020603050405020304"/>
                <a:cs typeface="Times New Roman" panose="02020603050405020304"/>
                <a:sym typeface="+mn-ea"/>
              </a:rPr>
              <a:t>Methodology</a:t>
            </a:r>
            <a:endParaRPr lang="en-US" spc="-70" dirty="0">
              <a:solidFill>
                <a:schemeClr val="bg1">
                  <a:lumMod val="10000"/>
                </a:schemeClr>
              </a:solidFill>
              <a:latin typeface="Times New Roman" panose="02020603050405020304"/>
              <a:cs typeface="Times New Roman" panose="02020603050405020304"/>
              <a:sym typeface="+mn-ea"/>
            </a:endParaRPr>
          </a:p>
          <a:p>
            <a:pPr marL="285750" indent="-285750">
              <a:spcAft>
                <a:spcPts val="300"/>
              </a:spcAft>
              <a:buFont typeface="Arial" panose="020B0604020202020204" pitchFamily="34" charset="0"/>
              <a:buChar char="•"/>
              <a:tabLst>
                <a:tab pos="299085" algn="l"/>
              </a:tabLst>
            </a:pPr>
            <a:r>
              <a:rPr lang="en-US" spc="-70" dirty="0">
                <a:solidFill>
                  <a:schemeClr val="bg1">
                    <a:lumMod val="10000"/>
                  </a:schemeClr>
                </a:solidFill>
                <a:latin typeface="Times New Roman" panose="02020603050405020304"/>
                <a:cs typeface="Times New Roman" panose="02020603050405020304"/>
                <a:sym typeface="+mn-ea"/>
              </a:rPr>
              <a:t>Result and Discussion</a:t>
            </a:r>
            <a:endParaRPr lang="en-US" spc="-70" dirty="0">
              <a:solidFill>
                <a:schemeClr val="bg1">
                  <a:lumMod val="10000"/>
                </a:schemeClr>
              </a:solidFill>
              <a:latin typeface="Times New Roman" panose="02020603050405020304"/>
              <a:cs typeface="Times New Roman" panose="02020603050405020304"/>
              <a:sym typeface="+mn-ea"/>
            </a:endParaRPr>
          </a:p>
          <a:p>
            <a:pPr marL="285750" indent="-285750">
              <a:spcAft>
                <a:spcPts val="300"/>
              </a:spcAft>
              <a:buFont typeface="Arial" panose="020B0604020202020204" pitchFamily="34" charset="0"/>
              <a:buChar char="•"/>
              <a:tabLst>
                <a:tab pos="299085" algn="l"/>
              </a:tabLst>
            </a:pPr>
            <a:r>
              <a:rPr lang="en-US" spc="-70" dirty="0">
                <a:solidFill>
                  <a:schemeClr val="bg1">
                    <a:lumMod val="10000"/>
                  </a:schemeClr>
                </a:solidFill>
                <a:latin typeface="Times New Roman" panose="02020603050405020304"/>
                <a:cs typeface="Times New Roman" panose="02020603050405020304"/>
                <a:sym typeface="+mn-ea"/>
              </a:rPr>
              <a:t>Conclusion and Future Enhancement</a:t>
            </a:r>
            <a:endParaRPr lang="en-US" spc="-70" dirty="0">
              <a:solidFill>
                <a:schemeClr val="bg1">
                  <a:lumMod val="10000"/>
                </a:schemeClr>
              </a:solidFill>
              <a:latin typeface="Times New Roman" panose="02020603050405020304"/>
              <a:cs typeface="Times New Roman" panose="02020603050405020304"/>
              <a:sym typeface="+mn-ea"/>
            </a:endParaRPr>
          </a:p>
          <a:p>
            <a:pPr marL="285750" indent="-285750">
              <a:spcAft>
                <a:spcPts val="300"/>
              </a:spcAft>
              <a:buFont typeface="Arial" panose="020B0604020202020204" pitchFamily="34" charset="0"/>
              <a:buChar char="•"/>
              <a:tabLst>
                <a:tab pos="299085" algn="l"/>
              </a:tabLst>
            </a:pPr>
            <a:r>
              <a:rPr lang="en-US" spc="-70" dirty="0">
                <a:solidFill>
                  <a:schemeClr val="bg1">
                    <a:lumMod val="10000"/>
                  </a:schemeClr>
                </a:solidFill>
                <a:latin typeface="Times New Roman" panose="02020603050405020304"/>
                <a:cs typeface="Times New Roman" panose="02020603050405020304"/>
                <a:sym typeface="+mn-ea"/>
              </a:rPr>
              <a:t>References</a:t>
            </a:r>
            <a:endParaRPr lang="en-US" spc="-70" dirty="0">
              <a:solidFill>
                <a:schemeClr val="bg1">
                  <a:lumMod val="10000"/>
                </a:schemeClr>
              </a:solidFill>
              <a:latin typeface="Times New Roman" panose="02020603050405020304"/>
              <a:cs typeface="Times New Roman" panose="02020603050405020304"/>
              <a:sym typeface="+mn-ea"/>
            </a:endParaRPr>
          </a:p>
          <a:p>
            <a:pPr>
              <a:spcAft>
                <a:spcPts val="300"/>
              </a:spcAft>
              <a:tabLst>
                <a:tab pos="299085" algn="l"/>
              </a:tabLst>
            </a:pPr>
            <a:endParaRPr lang="en-US" spc="-70" dirty="0">
              <a:solidFill>
                <a:srgbClr val="C00000"/>
              </a:solidFill>
              <a:latin typeface="Times New Roman" panose="02020603050405020304"/>
              <a:cs typeface="Times New Roman" panose="02020603050405020304"/>
              <a:sym typeface="+mn-ea"/>
            </a:endParaRPr>
          </a:p>
        </p:txBody>
      </p:sp>
      <p:pic>
        <p:nvPicPr>
          <p:cNvPr id="7" name="Picture 6"/>
          <p:cNvPicPr>
            <a:picLocks noChangeAspect="1"/>
          </p:cNvPicPr>
          <p:nvPr/>
        </p:nvPicPr>
        <p:blipFill>
          <a:blip r:embed="rId1"/>
          <a:stretch>
            <a:fillRect/>
          </a:stretch>
        </p:blipFill>
        <p:spPr>
          <a:xfrm>
            <a:off x="305608" y="234458"/>
            <a:ext cx="1943899" cy="48354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0"/>
          <p:cNvSpPr txBox="1"/>
          <p:nvPr/>
        </p:nvSpPr>
        <p:spPr>
          <a:xfrm>
            <a:off x="2502106" y="495935"/>
            <a:ext cx="4139786" cy="669151"/>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chemeClr val="dk1"/>
              </a:buClr>
              <a:buSzPts val="5200"/>
              <a:buFont typeface="Noto Serif Ethiopic" panose="02020502060505020204"/>
              <a:buNone/>
            </a:pPr>
            <a:r>
              <a:rPr lang="en-US" sz="30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ABSTRACT</a:t>
            </a:r>
            <a:endParaRPr lang="en-US" sz="30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endParaRPr>
          </a:p>
        </p:txBody>
      </p:sp>
      <p:sp>
        <p:nvSpPr>
          <p:cNvPr id="3" name="Text Box 2"/>
          <p:cNvSpPr txBox="1"/>
          <p:nvPr/>
        </p:nvSpPr>
        <p:spPr>
          <a:xfrm>
            <a:off x="462280" y="4662488"/>
            <a:ext cx="5080000" cy="337185"/>
          </a:xfrm>
          <a:prstGeom prst="rect">
            <a:avLst/>
          </a:prstGeom>
        </p:spPr>
        <p:txBody>
          <a:bodyPr>
            <a:spAutoFit/>
          </a:bodyPr>
          <a:lstStyle/>
          <a:p>
            <a:pPr fontAlgn="base">
              <a:spcBef>
                <a:spcPct val="0"/>
              </a:spcBef>
              <a:spcAft>
                <a:spcPct val="0"/>
              </a:spcAft>
            </a:pPr>
            <a:r>
              <a:rPr lang="en-US" altLang="zh-CN" sz="1600" dirty="0">
                <a:latin typeface="Times New Roman" panose="02020603050405020304" pitchFamily="18" charset="0"/>
                <a:ea typeface="Times New Roman" panose="02020603050405020304"/>
                <a:cs typeface="Times New Roman" panose="02020603050405020304" pitchFamily="18" charset="0"/>
                <a:sym typeface="+mn-ea"/>
              </a:rPr>
              <a:t>Team No: 15</a:t>
            </a:r>
            <a:endParaRPr lang="en-US" altLang="zh-CN" sz="1600" b="0" i="0" dirty="0">
              <a:solidFill>
                <a:srgbClr val="FF0000"/>
              </a:solidFill>
              <a:latin typeface="Times New Roman" panose="02020603050405020304" pitchFamily="18" charset="0"/>
              <a:ea typeface="Times New Roman" panose="02020603050405020304"/>
              <a:cs typeface="Times New Roman" panose="02020603050405020304" pitchFamily="18" charset="0"/>
            </a:endParaRPr>
          </a:p>
        </p:txBody>
      </p:sp>
      <p:sp>
        <p:nvSpPr>
          <p:cNvPr id="4" name="Rectangle 3"/>
          <p:cNvSpPr/>
          <p:nvPr/>
        </p:nvSpPr>
        <p:spPr>
          <a:xfrm>
            <a:off x="7949725" y="4680784"/>
            <a:ext cx="811376" cy="307777"/>
          </a:xfrm>
          <a:prstGeom prst="rect">
            <a:avLst/>
          </a:prstGeom>
        </p:spPr>
        <p:txBody>
          <a:bodyPr wrap="none">
            <a:spAutoFit/>
          </a:bodyPr>
          <a:lstStyle/>
          <a:p>
            <a:pPr>
              <a:tabLst>
                <a:tab pos="0" algn="l"/>
              </a:tabLst>
            </a:pPr>
            <a:r>
              <a:rPr lang="en-US" spc="-1" dirty="0">
                <a:latin typeface="Times New Roman" panose="02020603050405020304" pitchFamily="18" charset="0"/>
                <a:cs typeface="Times New Roman" panose="02020603050405020304" pitchFamily="18" charset="0"/>
              </a:rPr>
              <a:t>            3</a:t>
            </a:r>
            <a:endParaRPr lang="en-IN" spc="-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788876" y="1276680"/>
            <a:ext cx="7343221" cy="2962158"/>
          </a:xfrm>
          <a:prstGeom prst="rect">
            <a:avLst/>
          </a:prstGeom>
          <a:noFill/>
        </p:spPr>
        <p:txBody>
          <a:bodyPr wrap="square">
            <a:sp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With the rapid growth of online examinations for academics, certifications, and internship selection, maintaining exam integrity has become a major challenge. Traditional online proctoring methods rely heavily on human invigilators or basic screen monitoring, which are costly, biased, and inefficient for large-scale exams. This project proposes an “AI-Based Proctoring System” that uses computer vision techniques to automatically monitor students through a webcam during online exams. The system detects suspicious behaviors such as face absence, head movement, eye diversion, and presence of multiple faces. A trust score mechanism is used instead of immediate disqualification to ensure fairness. This solution is cost-effective, scalable, and suitable for modern online assessments where credibility and transparency are critical.</a:t>
            </a:r>
            <a:endParaRPr lang="en-US" altLang="en-US" sz="12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305608" y="234458"/>
            <a:ext cx="1943899" cy="48354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8"/>
          <p:cNvSpPr txBox="1"/>
          <p:nvPr/>
        </p:nvSpPr>
        <p:spPr>
          <a:xfrm>
            <a:off x="2464752" y="495935"/>
            <a:ext cx="4214495" cy="659733"/>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chemeClr val="dk1"/>
              </a:buClr>
              <a:buSzPts val="5200"/>
              <a:buFont typeface="Noto Serif Ethiopic" panose="02020502060505020204"/>
              <a:buNone/>
            </a:pPr>
            <a:r>
              <a:rPr lang="en-US" sz="30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INTRODUCTION</a:t>
            </a:r>
            <a:endParaRPr lang="en-US" sz="30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endParaRPr>
          </a:p>
        </p:txBody>
      </p:sp>
      <p:sp>
        <p:nvSpPr>
          <p:cNvPr id="65" name="Google Shape;65;p8"/>
          <p:cNvSpPr txBox="1"/>
          <p:nvPr/>
        </p:nvSpPr>
        <p:spPr>
          <a:xfrm>
            <a:off x="713678" y="1310226"/>
            <a:ext cx="7395337" cy="2999909"/>
          </a:xfrm>
          <a:prstGeom prst="rect">
            <a:avLst/>
          </a:prstGeom>
          <a:noFill/>
          <a:ln>
            <a:noFill/>
          </a:ln>
        </p:spPr>
        <p:txBody>
          <a:bodyPr spcFirstLastPara="1" wrap="square" lIns="91425" tIns="91425" rIns="91425" bIns="91425" anchor="t" anchorCtr="0">
            <a:noAutofit/>
          </a:bodyPr>
          <a:lstStyle/>
          <a:p>
            <a:pPr algn="just">
              <a:lnSpc>
                <a:spcPct val="150000"/>
              </a:lnSpc>
              <a:buClr>
                <a:schemeClr val="dk1"/>
              </a:buClr>
              <a:buSzPts val="1200"/>
            </a:pPr>
            <a:r>
              <a:rPr lang="en-US" dirty="0">
                <a:latin typeface="Times New Roman" panose="02020603050405020304" pitchFamily="18" charset="0"/>
                <a:cs typeface="Times New Roman" panose="02020603050405020304" pitchFamily="18" charset="0"/>
              </a:rPr>
              <a:t>The AI-Based Proctoring System is an intelligent solution designed to ensure fairness and integrity in online examinations conducted for academics, certifications, internships, and recruitment processes. As online exams continue to grow, traditional proctoring methods that rely on human invigilators have become inefficient and difficult to scale. This project uses artificial intelligence and computer vision techniques to automatically monitor candidates through a webcam, acting as a digital invigilator. The system verifies the candidate’s identity, tracks eye and head movements, and detects multiple faces to identify suspicious behavior during the exam. Instead of immediate disqualification, a trust score mechanism is used to maintain fairness. Overall, the system provides a reliable and automated solution for conducting secure online examinations.</a:t>
            </a:r>
            <a:endParaRPr lang="en-US" altLang="en-US"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
        <p:nvSpPr>
          <p:cNvPr id="3" name="Text Box 2"/>
          <p:cNvSpPr txBox="1"/>
          <p:nvPr/>
        </p:nvSpPr>
        <p:spPr>
          <a:xfrm>
            <a:off x="462280" y="4662488"/>
            <a:ext cx="5080000" cy="337185"/>
          </a:xfrm>
          <a:prstGeom prst="rect">
            <a:avLst/>
          </a:prstGeom>
        </p:spPr>
        <p:txBody>
          <a:bodyPr>
            <a:spAutoFit/>
          </a:bodyPr>
          <a:lstStyle/>
          <a:p>
            <a:pPr fontAlgn="base">
              <a:spcBef>
                <a:spcPct val="0"/>
              </a:spcBef>
              <a:spcAft>
                <a:spcPct val="0"/>
              </a:spcAft>
            </a:pPr>
            <a:r>
              <a:rPr lang="en-US" altLang="zh-CN" sz="1600" dirty="0">
                <a:latin typeface="Times New Roman" panose="02020603050405020304" pitchFamily="18" charset="0"/>
                <a:ea typeface="Times New Roman" panose="02020603050405020304"/>
                <a:cs typeface="Times New Roman" panose="02020603050405020304" pitchFamily="18" charset="0"/>
                <a:sym typeface="+mn-ea"/>
              </a:rPr>
              <a:t>Team No: 15</a:t>
            </a:r>
            <a:endParaRPr lang="en-US" altLang="zh-CN" sz="1600" b="0" i="0" dirty="0">
              <a:solidFill>
                <a:srgbClr val="FF0000"/>
              </a:solidFill>
              <a:latin typeface="Times New Roman" panose="02020603050405020304" pitchFamily="18" charset="0"/>
              <a:ea typeface="Times New Roman" panose="02020603050405020304"/>
              <a:cs typeface="Times New Roman" panose="02020603050405020304" pitchFamily="18" charset="0"/>
            </a:endParaRPr>
          </a:p>
        </p:txBody>
      </p:sp>
      <p:sp>
        <p:nvSpPr>
          <p:cNvPr id="4" name="Rectangle 3"/>
          <p:cNvSpPr/>
          <p:nvPr/>
        </p:nvSpPr>
        <p:spPr>
          <a:xfrm>
            <a:off x="7949725" y="4669849"/>
            <a:ext cx="856132" cy="307777"/>
          </a:xfrm>
          <a:prstGeom prst="rect">
            <a:avLst/>
          </a:prstGeom>
        </p:spPr>
        <p:txBody>
          <a:bodyPr wrap="none">
            <a:spAutoFit/>
          </a:bodyPr>
          <a:lstStyle/>
          <a:p>
            <a:pPr>
              <a:tabLst>
                <a:tab pos="0" algn="l"/>
              </a:tabLst>
            </a:pPr>
            <a:r>
              <a:rPr lang="en-IN" spc="-1" dirty="0">
                <a:latin typeface="Times New Roman" panose="02020603050405020304" pitchFamily="18" charset="0"/>
                <a:cs typeface="Times New Roman" panose="02020603050405020304" pitchFamily="18" charset="0"/>
              </a:rPr>
              <a:t>             4</a:t>
            </a:r>
            <a:endParaRPr lang="en-IN" spc="-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305608" y="234458"/>
            <a:ext cx="1943899" cy="48354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0"/>
          <p:cNvSpPr txBox="1"/>
          <p:nvPr/>
        </p:nvSpPr>
        <p:spPr>
          <a:xfrm>
            <a:off x="2333949" y="250031"/>
            <a:ext cx="4902835" cy="491808"/>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chemeClr val="dk1"/>
              </a:buClr>
              <a:buSzPts val="5200"/>
              <a:buFont typeface="Noto Serif Ethiopic" panose="02020502060505020204"/>
              <a:buNone/>
            </a:pPr>
            <a:r>
              <a:rPr lang="en-US" sz="28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LITERATURE SURVEY</a:t>
            </a:r>
            <a:endParaRPr lang="en-US" sz="28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endParaRPr>
          </a:p>
        </p:txBody>
      </p:sp>
      <p:sp>
        <p:nvSpPr>
          <p:cNvPr id="3" name="Text Box 2"/>
          <p:cNvSpPr txBox="1"/>
          <p:nvPr/>
        </p:nvSpPr>
        <p:spPr>
          <a:xfrm>
            <a:off x="-685800" y="4653280"/>
            <a:ext cx="10516235" cy="310515"/>
          </a:xfrm>
          <a:prstGeom prst="rect">
            <a:avLst/>
          </a:prstGeom>
        </p:spPr>
        <p:txBody>
          <a:bodyPr wrap="square">
            <a:noAutofit/>
          </a:bodyPr>
          <a:lstStyle/>
          <a:p>
            <a:pPr algn="ctr" fontAlgn="base">
              <a:spcBef>
                <a:spcPct val="0"/>
              </a:spcBef>
              <a:spcAft>
                <a:spcPct val="0"/>
              </a:spcAft>
            </a:pPr>
            <a:r>
              <a:rPr lang="en-US" altLang="zh-CN" sz="1600" dirty="0">
                <a:latin typeface="Times New Roman" panose="02020603050405020304" pitchFamily="18" charset="0"/>
                <a:ea typeface="Times New Roman" panose="02020603050405020304"/>
                <a:cs typeface="Times New Roman" panose="02020603050405020304" pitchFamily="18" charset="0"/>
              </a:rPr>
              <a:t>     Team No: 15</a:t>
            </a:r>
            <a:r>
              <a:rPr lang="en-US" sz="1600" spc="-1" dirty="0">
                <a:latin typeface="Times New Roman" panose="02020603050405020304" pitchFamily="18" charset="0"/>
                <a:cs typeface="Times New Roman" panose="02020603050405020304" pitchFamily="18" charset="0"/>
              </a:rPr>
              <a:t>                                                                                                                                            5</a:t>
            </a:r>
            <a:r>
              <a:rPr lang="en-US" altLang="zh-CN" sz="1600" dirty="0">
                <a:latin typeface="Times New Roman" panose="02020603050405020304" pitchFamily="18" charset="0"/>
                <a:ea typeface="Times New Roman" panose="02020603050405020304"/>
                <a:cs typeface="Times New Roman" panose="02020603050405020304" pitchFamily="18" charset="0"/>
              </a:rPr>
              <a:t> </a:t>
            </a:r>
            <a:endParaRPr lang="en-US" altLang="zh-CN" sz="1600" dirty="0">
              <a:solidFill>
                <a:srgbClr val="FF0000"/>
              </a:solidFill>
              <a:latin typeface="Times New Roman" panose="02020603050405020304" pitchFamily="18" charset="0"/>
              <a:ea typeface="Times New Roman" panose="02020603050405020304"/>
              <a:cs typeface="Times New Roman" panose="02020603050405020304" pitchFamily="18" charset="0"/>
            </a:endParaRPr>
          </a:p>
        </p:txBody>
      </p:sp>
      <p:graphicFrame>
        <p:nvGraphicFramePr>
          <p:cNvPr id="5" name="Google Shape;99;p5"/>
          <p:cNvGraphicFramePr/>
          <p:nvPr>
            <p:custDataLst>
              <p:tags r:id="rId1"/>
            </p:custDataLst>
          </p:nvPr>
        </p:nvGraphicFramePr>
        <p:xfrm>
          <a:off x="624468" y="915746"/>
          <a:ext cx="7895063" cy="3449649"/>
        </p:xfrm>
        <a:graphic>
          <a:graphicData uri="http://schemas.openxmlformats.org/drawingml/2006/table">
            <a:tbl>
              <a:tblPr firstRow="1" bandRow="1">
                <a:noFill/>
              </a:tblPr>
              <a:tblGrid>
                <a:gridCol w="417013"/>
                <a:gridCol w="1105825"/>
                <a:gridCol w="759444"/>
                <a:gridCol w="1044891"/>
                <a:gridCol w="1747399"/>
                <a:gridCol w="1430992"/>
                <a:gridCol w="1389499"/>
              </a:tblGrid>
              <a:tr h="348207">
                <a:tc>
                  <a:txBody>
                    <a:bodyPr/>
                    <a:lstStyle/>
                    <a:p>
                      <a:pPr marL="0" marR="0" lvl="0" indent="0" algn="ctr" rtl="0">
                        <a:spcBef>
                          <a:spcPts val="0"/>
                        </a:spcBef>
                        <a:spcAft>
                          <a:spcPts val="0"/>
                        </a:spcAft>
                        <a:buNone/>
                      </a:pPr>
                      <a:r>
                        <a:rPr lang="en-US" sz="1100" u="none" strike="noStrike" cap="none"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No</a:t>
                      </a:r>
                      <a:endParaRPr sz="1100" u="none" strike="noStrike" cap="none"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ctr" rtl="0">
                        <a:spcBef>
                          <a:spcPts val="0"/>
                        </a:spcBef>
                        <a:spcAft>
                          <a:spcPts val="0"/>
                        </a:spcAft>
                        <a:buNone/>
                      </a:pPr>
                      <a:r>
                        <a:rPr lang="en-US" sz="1100" u="none" strike="noStrike" cap="none"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Title</a:t>
                      </a:r>
                      <a:endParaRPr sz="1100" u="none" strike="noStrike" cap="none"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marL="0" marR="0" lvl="0" indent="0" algn="ctr" rtl="0">
                        <a:spcBef>
                          <a:spcPts val="0"/>
                        </a:spcBef>
                        <a:spcAft>
                          <a:spcPts val="0"/>
                        </a:spcAft>
                        <a:buNone/>
                      </a:pPr>
                      <a:r>
                        <a:rPr lang="en-US" sz="1100" u="none" strike="noStrike" cap="none">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Author</a:t>
                      </a:r>
                      <a:endParaRPr sz="1100" u="none" strike="noStrike" cap="none">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marL="0" marR="0" lvl="0" indent="0" algn="ctr" rtl="0">
                        <a:spcBef>
                          <a:spcPts val="0"/>
                        </a:spcBef>
                        <a:spcAft>
                          <a:spcPts val="0"/>
                        </a:spcAft>
                        <a:buNone/>
                      </a:pPr>
                      <a:r>
                        <a:rPr lang="en-US" sz="1100" u="none" strike="noStrike" cap="none"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Journal Name &amp; Year</a:t>
                      </a:r>
                      <a:endParaRPr sz="1100" u="none" strike="noStrike" cap="none"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marL="0" marR="0" lvl="0" indent="0" algn="ctr" rtl="0">
                        <a:spcBef>
                          <a:spcPts val="0"/>
                        </a:spcBef>
                        <a:spcAft>
                          <a:spcPts val="0"/>
                        </a:spcAft>
                        <a:buNone/>
                      </a:pPr>
                      <a:r>
                        <a:rPr lang="en-US" sz="1100" u="none" strike="noStrike" cap="none"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Methodology Adapted</a:t>
                      </a:r>
                      <a:endParaRPr sz="1100" u="none" strike="noStrike" cap="none"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marL="0" marR="0" lvl="0" indent="0" algn="ctr" rtl="0">
                        <a:spcBef>
                          <a:spcPts val="0"/>
                        </a:spcBef>
                        <a:spcAft>
                          <a:spcPts val="0"/>
                        </a:spcAft>
                        <a:buNone/>
                      </a:pPr>
                      <a:r>
                        <a:rPr lang="en-US" sz="1100" u="none" strike="noStrike" cap="none">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Key Findings </a:t>
                      </a:r>
                      <a:endParaRPr sz="1100" u="none" strike="noStrike" cap="none">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marL="0" marR="0" lvl="0" indent="0" algn="ctr" rtl="0">
                        <a:spcBef>
                          <a:spcPts val="0"/>
                        </a:spcBef>
                        <a:spcAft>
                          <a:spcPts val="0"/>
                        </a:spcAft>
                        <a:buNone/>
                      </a:pPr>
                      <a:r>
                        <a:rPr lang="en-US" sz="1100" u="none" strike="noStrike" cap="none"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Gaps</a:t>
                      </a:r>
                      <a:endParaRPr sz="1100" u="none" strike="noStrike" cap="none"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r>
              <a:tr h="989779">
                <a:tc>
                  <a:txBody>
                    <a:bodyPr/>
                    <a:lstStyle/>
                    <a:p>
                      <a:pPr marL="0" marR="0" lvl="1" indent="0" algn="ctr" rtl="0">
                        <a:spcBef>
                          <a:spcPts val="0"/>
                        </a:spcBef>
                        <a:spcAft>
                          <a:spcPts val="0"/>
                        </a:spcAft>
                        <a:buNone/>
                      </a:pPr>
                      <a:endParaRPr lang="en-US" sz="1100" u="none" strike="noStrike" cap="none">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marR="0" lvl="1" indent="0" algn="ctr" rtl="0">
                        <a:spcBef>
                          <a:spcPts val="0"/>
                        </a:spcBef>
                        <a:spcAft>
                          <a:spcPts val="0"/>
                        </a:spcAft>
                        <a:buNone/>
                      </a:pPr>
                      <a:endParaRPr lang="en-US" sz="1100" u="none" strike="noStrike" cap="none">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marR="0" lvl="1" indent="0" algn="ctr" rtl="0">
                        <a:spcBef>
                          <a:spcPts val="0"/>
                        </a:spcBef>
                        <a:spcAft>
                          <a:spcPts val="0"/>
                        </a:spcAft>
                        <a:buNone/>
                      </a:pPr>
                      <a:endParaRPr lang="en-US" sz="1100" u="none" strike="noStrike" cap="none">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marR="0" lvl="1" indent="0" algn="ctr" rtl="0">
                        <a:spcBef>
                          <a:spcPts val="0"/>
                        </a:spcBef>
                        <a:spcAft>
                          <a:spcPts val="0"/>
                        </a:spcAft>
                        <a:buNone/>
                      </a:pPr>
                      <a:endParaRPr lang="en-US" sz="1100" u="none" strike="noStrike" cap="none">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marR="0" lvl="1" indent="0" algn="ctr" rtl="0">
                        <a:spcBef>
                          <a:spcPts val="0"/>
                        </a:spcBef>
                        <a:spcAft>
                          <a:spcPts val="0"/>
                        </a:spcAft>
                        <a:buNone/>
                      </a:pPr>
                      <a:r>
                        <a:rPr lang="en-US" sz="1100" u="none" strike="noStrike" cap="none">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1</a:t>
                      </a:r>
                      <a:endParaRPr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lgn="ctr">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ctr" defTabSz="914400" rtl="0" eaLnBrk="1" fontAlgn="ctr" latinLnBrk="0" hangingPunct="1">
                        <a:lnSpc>
                          <a:spcPct val="90000"/>
                        </a:lnSpc>
                        <a:spcBef>
                          <a:spcPts val="0"/>
                        </a:spcBef>
                        <a:spcAft>
                          <a:spcPts val="0"/>
                        </a:spcAft>
                        <a:buClr>
                          <a:srgbClr val="000000"/>
                        </a:buClr>
                        <a:buSzTx/>
                        <a:buFont typeface="Arial" panose="020B0604020202020204"/>
                        <a:buNone/>
                        <a:defRPr/>
                      </a:pPr>
                      <a:r>
                        <a:rPr lang="en-US" sz="1100" dirty="0">
                          <a:solidFill>
                            <a:schemeClr val="accent2"/>
                          </a:solidFill>
                          <a:latin typeface="Times New Roman" panose="02020603050405020304" pitchFamily="18" charset="0"/>
                          <a:cs typeface="Times New Roman" panose="02020603050405020304" pitchFamily="18" charset="0"/>
                        </a:rPr>
                        <a:t>Online Examination Proctoring: Challenges and Solutions</a:t>
                      </a:r>
                      <a:endParaRPr lang="en-US" altLang="en-US" sz="1100" b="0" i="0" u="none" strike="noStrike" cap="none" dirty="0">
                        <a:solidFill>
                          <a:schemeClr val="accent2"/>
                        </a:solidFill>
                        <a:latin typeface="Times New Roman" panose="02020603050405020304" pitchFamily="18" charset="0"/>
                        <a:cs typeface="Times New Roman" panose="02020603050405020304" pitchFamily="18" charset="0"/>
                        <a:sym typeface="Arial" panose="020B0604020202020204"/>
                      </a:endParaRPr>
                    </a:p>
                  </a:txBody>
                  <a:tcPr marL="6350" marR="6350" marT="6350" marB="0" anchor="ctr">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ctr" defTabSz="914400" rtl="0" eaLnBrk="1" fontAlgn="ctr" latinLnBrk="0" hangingPunct="1">
                        <a:lnSpc>
                          <a:spcPct val="90000"/>
                        </a:lnSpc>
                        <a:spcBef>
                          <a:spcPts val="0"/>
                        </a:spcBef>
                        <a:spcAft>
                          <a:spcPts val="0"/>
                        </a:spcAft>
                        <a:buClr>
                          <a:srgbClr val="000000"/>
                        </a:buClr>
                        <a:buSzTx/>
                        <a:buFont typeface="Arial" panose="020B0604020202020204"/>
                        <a:buNone/>
                        <a:defRPr/>
                      </a:pPr>
                      <a:endParaRPr lang="en-IN" sz="1100" dirty="0">
                        <a:solidFill>
                          <a:schemeClr val="bg1">
                            <a:lumMod val="10000"/>
                          </a:schemeClr>
                        </a:solidFill>
                        <a:latin typeface="Times New Roman" panose="02020603050405020304" pitchFamily="18" charset="0"/>
                        <a:cs typeface="Times New Roman" panose="02020603050405020304" pitchFamily="18" charset="0"/>
                      </a:endParaRPr>
                    </a:p>
                    <a:p>
                      <a:pPr marL="0" marR="0" lvl="0" indent="0" algn="ctr" defTabSz="914400" rtl="0" eaLnBrk="1" fontAlgn="ctr" latinLnBrk="0" hangingPunct="1">
                        <a:lnSpc>
                          <a:spcPct val="90000"/>
                        </a:lnSpc>
                        <a:spcBef>
                          <a:spcPts val="0"/>
                        </a:spcBef>
                        <a:spcAft>
                          <a:spcPts val="0"/>
                        </a:spcAft>
                        <a:buClr>
                          <a:srgbClr val="000000"/>
                        </a:buClr>
                        <a:buSzTx/>
                        <a:buFont typeface="Arial" panose="020B0604020202020204"/>
                        <a:buNone/>
                        <a:defRPr/>
                      </a:pPr>
                      <a:endParaRPr lang="en-IN" sz="1100" dirty="0">
                        <a:solidFill>
                          <a:schemeClr val="bg1">
                            <a:lumMod val="10000"/>
                          </a:schemeClr>
                        </a:solidFill>
                        <a:latin typeface="Times New Roman" panose="02020603050405020304" pitchFamily="18" charset="0"/>
                        <a:cs typeface="Times New Roman" panose="02020603050405020304" pitchFamily="18" charset="0"/>
                      </a:endParaRPr>
                    </a:p>
                    <a:p>
                      <a:pPr marL="0" marR="0" lvl="0" indent="0" algn="ctr" defTabSz="914400" rtl="0" eaLnBrk="1" fontAlgn="ctr" latinLnBrk="0" hangingPunct="1">
                        <a:lnSpc>
                          <a:spcPct val="90000"/>
                        </a:lnSpc>
                        <a:spcBef>
                          <a:spcPts val="0"/>
                        </a:spcBef>
                        <a:spcAft>
                          <a:spcPts val="0"/>
                        </a:spcAft>
                        <a:buClr>
                          <a:srgbClr val="000000"/>
                        </a:buClr>
                        <a:buSzTx/>
                        <a:buFont typeface="Arial" panose="020B0604020202020204"/>
                        <a:buNone/>
                        <a:defRPr/>
                      </a:pPr>
                      <a:r>
                        <a:rPr lang="en-IN" sz="1100" dirty="0">
                          <a:solidFill>
                            <a:schemeClr val="accent2"/>
                          </a:solidFill>
                          <a:latin typeface="Times New Roman" panose="02020603050405020304" pitchFamily="18" charset="0"/>
                          <a:cs typeface="Times New Roman" panose="02020603050405020304" pitchFamily="18" charset="0"/>
                        </a:rPr>
                        <a:t>Smith et al</a:t>
                      </a:r>
                      <a:endParaRPr lang="en-US" altLang="en-US" sz="11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lgn="ctr">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ctr" defTabSz="914400" rtl="0" eaLnBrk="1" fontAlgn="auto" latinLnBrk="0" hangingPunct="1">
                        <a:lnSpc>
                          <a:spcPct val="90000"/>
                        </a:lnSpc>
                        <a:spcBef>
                          <a:spcPts val="0"/>
                        </a:spcBef>
                        <a:spcAft>
                          <a:spcPts val="0"/>
                        </a:spcAft>
                        <a:buClr>
                          <a:srgbClr val="000000"/>
                        </a:buClr>
                        <a:buSzTx/>
                        <a:buFont typeface="Arial" panose="020B0604020202020204"/>
                        <a:buNone/>
                        <a:defRPr/>
                      </a:pPr>
                      <a:endParaRPr lang="en-IN" sz="1100" dirty="0">
                        <a:solidFill>
                          <a:schemeClr val="bg1">
                            <a:lumMod val="10000"/>
                          </a:schemeClr>
                        </a:solidFill>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90000"/>
                        </a:lnSpc>
                        <a:spcBef>
                          <a:spcPts val="0"/>
                        </a:spcBef>
                        <a:spcAft>
                          <a:spcPts val="0"/>
                        </a:spcAft>
                        <a:buClr>
                          <a:srgbClr val="000000"/>
                        </a:buClr>
                        <a:buSzTx/>
                        <a:buFont typeface="Arial" panose="020B0604020202020204"/>
                        <a:buNone/>
                        <a:defRPr/>
                      </a:pPr>
                      <a:r>
                        <a:rPr lang="en-US" sz="1100" dirty="0">
                          <a:solidFill>
                            <a:schemeClr val="accent2"/>
                          </a:solidFill>
                          <a:latin typeface="Times New Roman" panose="02020603050405020304" pitchFamily="18" charset="0"/>
                          <a:cs typeface="Times New Roman" panose="02020603050405020304" pitchFamily="18" charset="0"/>
                        </a:rPr>
                        <a:t>International Journal of Educational Technology</a:t>
                      </a:r>
                      <a:r>
                        <a:rPr lang="en-US" altLang="en-US" sz="1100" dirty="0">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(2018)</a:t>
                      </a:r>
                      <a:endParaRPr lang="en-US" altLang="en-US" sz="1100" dirty="0">
                        <a:solidFill>
                          <a:schemeClr val="accent2"/>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lgn="ctr">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algn="ctr" fontAlgn="base" latinLnBrk="0">
                        <a:buNone/>
                      </a:pPr>
                      <a:r>
                        <a:rPr lang="en-US" sz="1100" dirty="0">
                          <a:solidFill>
                            <a:schemeClr val="accent2"/>
                          </a:solidFill>
                          <a:latin typeface="Times New Roman" panose="02020603050405020304" pitchFamily="18" charset="0"/>
                          <a:cs typeface="Times New Roman" panose="02020603050405020304" pitchFamily="18" charset="0"/>
                        </a:rPr>
                        <a:t>Manual and webcam based proctoring</a:t>
                      </a:r>
                      <a:endParaRPr lang="en-US" altLang="en-US" sz="1100" dirty="0">
                        <a:solidFill>
                          <a:schemeClr val="accent2"/>
                        </a:solidFill>
                        <a:effectLst/>
                        <a:latin typeface="Times New Roman" panose="02020603050405020304" pitchFamily="18" charset="0"/>
                        <a:cs typeface="Times New Roman" panose="02020603050405020304" pitchFamily="18" charset="0"/>
                      </a:endParaRPr>
                    </a:p>
                  </a:txBody>
                  <a:tcPr marL="60960" marR="60960" anchor="ctr">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algn="ctr" fontAlgn="base" latinLnBrk="0">
                        <a:buNone/>
                      </a:pPr>
                      <a:r>
                        <a:rPr lang="en-US" sz="1100" dirty="0">
                          <a:solidFill>
                            <a:schemeClr val="accent2"/>
                          </a:solidFill>
                          <a:latin typeface="Times New Roman" panose="02020603050405020304" pitchFamily="18" charset="0"/>
                          <a:cs typeface="Times New Roman" panose="02020603050405020304" pitchFamily="18" charset="0"/>
                        </a:rPr>
                        <a:t>Highlighted the need for monitoring online exams</a:t>
                      </a:r>
                      <a:endParaRPr lang="en-US" altLang="en-US" sz="1100" dirty="0">
                        <a:solidFill>
                          <a:schemeClr val="accent2"/>
                        </a:solidFill>
                        <a:effectLst/>
                        <a:latin typeface="Times New Roman" panose="02020603050405020304" pitchFamily="18" charset="0"/>
                        <a:cs typeface="Times New Roman" panose="02020603050405020304" pitchFamily="18" charset="0"/>
                      </a:endParaRPr>
                    </a:p>
                  </a:txBody>
                  <a:tcPr marL="60960" marR="60960" anchor="ctr">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marL="0" marR="0" lvl="0" indent="0" algn="ctr" defTabSz="914400" rtl="0" eaLnBrk="1" fontAlgn="ctr" latinLnBrk="0" hangingPunct="1">
                        <a:lnSpc>
                          <a:spcPct val="90000"/>
                        </a:lnSpc>
                        <a:spcBef>
                          <a:spcPts val="0"/>
                        </a:spcBef>
                        <a:spcAft>
                          <a:spcPts val="0"/>
                        </a:spcAft>
                        <a:buClr>
                          <a:srgbClr val="000000"/>
                        </a:buClr>
                        <a:buSzTx/>
                        <a:buFont typeface="Arial" panose="020B0604020202020204"/>
                        <a:buNone/>
                        <a:defRPr/>
                      </a:pPr>
                      <a:endParaRPr lang="en-US" sz="1100" dirty="0">
                        <a:solidFill>
                          <a:schemeClr val="bg1">
                            <a:lumMod val="10000"/>
                          </a:schemeClr>
                        </a:solidFill>
                        <a:latin typeface="Times New Roman" panose="02020603050405020304" pitchFamily="18" charset="0"/>
                        <a:cs typeface="Times New Roman" panose="02020603050405020304" pitchFamily="18" charset="0"/>
                      </a:endParaRPr>
                    </a:p>
                    <a:p>
                      <a:pPr marL="0" marR="0" lvl="0" indent="0" algn="ctr" defTabSz="914400" rtl="0" eaLnBrk="1" fontAlgn="ctr" latinLnBrk="0" hangingPunct="1">
                        <a:lnSpc>
                          <a:spcPct val="90000"/>
                        </a:lnSpc>
                        <a:spcBef>
                          <a:spcPts val="0"/>
                        </a:spcBef>
                        <a:spcAft>
                          <a:spcPts val="0"/>
                        </a:spcAft>
                        <a:buClr>
                          <a:srgbClr val="000000"/>
                        </a:buClr>
                        <a:buSzTx/>
                        <a:buFont typeface="Arial" panose="020B0604020202020204"/>
                        <a:buNone/>
                        <a:defRPr/>
                      </a:pPr>
                      <a:r>
                        <a:rPr lang="en-US" sz="1100" dirty="0">
                          <a:solidFill>
                            <a:schemeClr val="accent2"/>
                          </a:solidFill>
                          <a:latin typeface="Times New Roman" panose="02020603050405020304" pitchFamily="18" charset="0"/>
                          <a:cs typeface="Times New Roman" panose="02020603050405020304" pitchFamily="18" charset="0"/>
                        </a:rPr>
                        <a:t>Highly dependent on human invigilators</a:t>
                      </a:r>
                      <a:endParaRPr lang="en-US" altLang="en-US" sz="11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lgn="ctr">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r>
              <a:tr h="927664">
                <a:tc>
                  <a:txBody>
                    <a:bodyPr/>
                    <a:lstStyle/>
                    <a:p>
                      <a:pPr marL="0" marR="0" lvl="0" indent="0" algn="ctr" rtl="0">
                        <a:spcBef>
                          <a:spcPts val="0"/>
                        </a:spcBef>
                        <a:spcAft>
                          <a:spcPts val="0"/>
                        </a:spcAft>
                        <a:buNone/>
                      </a:pPr>
                      <a:r>
                        <a:rPr lang="en-US"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endParaRPr lang="en-US"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marR="0" lvl="0" indent="0" algn="ctr" rtl="0">
                        <a:spcBef>
                          <a:spcPts val="0"/>
                        </a:spcBef>
                        <a:spcAft>
                          <a:spcPts val="0"/>
                        </a:spcAft>
                        <a:buNone/>
                      </a:pPr>
                      <a:endParaRPr lang="en-US"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marR="0" lvl="0" indent="0" algn="ctr" rtl="0">
                        <a:spcBef>
                          <a:spcPts val="0"/>
                        </a:spcBef>
                        <a:spcAft>
                          <a:spcPts val="0"/>
                        </a:spcAft>
                        <a:buNone/>
                      </a:pPr>
                      <a:endParaRPr lang="en-US"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marR="0" lvl="0" indent="0" algn="ctr" rtl="0">
                        <a:spcBef>
                          <a:spcPts val="0"/>
                        </a:spcBef>
                        <a:spcAft>
                          <a:spcPts val="0"/>
                        </a:spcAft>
                        <a:buNone/>
                      </a:pPr>
                      <a:r>
                        <a:rPr lang="en-US"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2</a:t>
                      </a:r>
                      <a:endParaRPr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lgn="ctr">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marL="0" marR="0" lvl="0" indent="0" algn="ctr" defTabSz="914400" rtl="0" eaLnBrk="1" fontAlgn="ctr" latinLnBrk="0" hangingPunct="1">
                        <a:lnSpc>
                          <a:spcPct val="90000"/>
                        </a:lnSpc>
                        <a:spcBef>
                          <a:spcPts val="0"/>
                        </a:spcBef>
                        <a:spcAft>
                          <a:spcPts val="0"/>
                        </a:spcAft>
                        <a:buClr>
                          <a:srgbClr val="000000"/>
                        </a:buClr>
                        <a:buSzTx/>
                        <a:buFont typeface="Arial" panose="020B0604020202020204"/>
                        <a:buNone/>
                        <a:defRPr/>
                      </a:pPr>
                      <a:r>
                        <a:rPr lang="en-US" sz="1100" dirty="0">
                          <a:solidFill>
                            <a:schemeClr val="accent2"/>
                          </a:solidFill>
                          <a:latin typeface="Times New Roman" panose="02020603050405020304" pitchFamily="18" charset="0"/>
                          <a:cs typeface="Times New Roman" panose="02020603050405020304" pitchFamily="18" charset="0"/>
                        </a:rPr>
                        <a:t>Face Detection-Based Online Exam Monitoring System</a:t>
                      </a:r>
                      <a:endParaRPr lang="en-US" altLang="en-US" sz="11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lgn="ctr">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marL="0" marR="0" lvl="0" indent="0" algn="ctr" defTabSz="914400" rtl="0" eaLnBrk="1" fontAlgn="ctr" latinLnBrk="0" hangingPunct="1">
                        <a:lnSpc>
                          <a:spcPct val="90000"/>
                        </a:lnSpc>
                        <a:spcBef>
                          <a:spcPts val="0"/>
                        </a:spcBef>
                        <a:spcAft>
                          <a:spcPts val="0"/>
                        </a:spcAft>
                        <a:buClr>
                          <a:srgbClr val="000000"/>
                        </a:buClr>
                        <a:buSzTx/>
                        <a:buFont typeface="Arial" panose="020B0604020202020204"/>
                        <a:buNone/>
                        <a:defRPr/>
                      </a:pPr>
                      <a:endParaRPr lang="en-IN" sz="1100" dirty="0">
                        <a:solidFill>
                          <a:schemeClr val="bg1">
                            <a:lumMod val="10000"/>
                          </a:schemeClr>
                        </a:solidFill>
                        <a:latin typeface="Times New Roman" panose="02020603050405020304" pitchFamily="18" charset="0"/>
                        <a:cs typeface="Times New Roman" panose="02020603050405020304" pitchFamily="18" charset="0"/>
                      </a:endParaRPr>
                    </a:p>
                    <a:p>
                      <a:pPr marL="0" marR="0" lvl="0" indent="0" algn="ctr" defTabSz="914400" rtl="0" eaLnBrk="1" fontAlgn="ctr" latinLnBrk="0" hangingPunct="1">
                        <a:lnSpc>
                          <a:spcPct val="90000"/>
                        </a:lnSpc>
                        <a:spcBef>
                          <a:spcPts val="0"/>
                        </a:spcBef>
                        <a:spcAft>
                          <a:spcPts val="0"/>
                        </a:spcAft>
                        <a:buClr>
                          <a:srgbClr val="000000"/>
                        </a:buClr>
                        <a:buSzTx/>
                        <a:buFont typeface="Arial" panose="020B0604020202020204"/>
                        <a:buNone/>
                        <a:defRPr/>
                      </a:pPr>
                      <a:endParaRPr lang="en-IN" sz="1100" dirty="0">
                        <a:solidFill>
                          <a:schemeClr val="bg1">
                            <a:lumMod val="10000"/>
                          </a:schemeClr>
                        </a:solidFill>
                        <a:latin typeface="Times New Roman" panose="02020603050405020304" pitchFamily="18" charset="0"/>
                        <a:cs typeface="Times New Roman" panose="02020603050405020304" pitchFamily="18" charset="0"/>
                      </a:endParaRPr>
                    </a:p>
                    <a:p>
                      <a:pPr marL="0" marR="0" lvl="0" indent="0" algn="ctr" rtl="0" fontAlgn="ctr">
                        <a:lnSpc>
                          <a:spcPct val="90000"/>
                        </a:lnSpc>
                        <a:spcBef>
                          <a:spcPts val="0"/>
                        </a:spcBef>
                        <a:spcAft>
                          <a:spcPts val="0"/>
                        </a:spcAft>
                        <a:buClr>
                          <a:srgbClr val="000000"/>
                        </a:buClr>
                        <a:buFont typeface="Arial" panose="020B0604020202020204"/>
                        <a:buNone/>
                      </a:pPr>
                      <a:r>
                        <a:rPr lang="en-US" altLang="en-US" sz="1100" b="0" i="0" u="none" strike="noStrike" cap="none" dirty="0">
                          <a:solidFill>
                            <a:schemeClr val="bg1">
                              <a:lumMod val="10000"/>
                            </a:schemeClr>
                          </a:solidFill>
                          <a:latin typeface="Times New Roman" panose="02020603050405020304" pitchFamily="18" charset="0"/>
                          <a:ea typeface="+mn-ea"/>
                          <a:cs typeface="Times New Roman" panose="02020603050405020304" pitchFamily="18" charset="0"/>
                          <a:sym typeface="Times New Roman" panose="02020603050405020304"/>
                        </a:rPr>
                        <a:t>Lee &amp; Park</a:t>
                      </a:r>
                      <a:endParaRPr lang="en-US" altLang="en-US" sz="1100" b="0" i="0" u="none" strike="noStrike" cap="none" dirty="0">
                        <a:solidFill>
                          <a:schemeClr val="bg1">
                            <a:lumMod val="10000"/>
                          </a:schemeClr>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marL="0" marR="0" lvl="0" indent="0" algn="ctr" defTabSz="914400" rtl="0" eaLnBrk="1" fontAlgn="ctr" latinLnBrk="0" hangingPunct="1">
                        <a:lnSpc>
                          <a:spcPct val="90000"/>
                        </a:lnSpc>
                        <a:spcBef>
                          <a:spcPts val="0"/>
                        </a:spcBef>
                        <a:spcAft>
                          <a:spcPts val="0"/>
                        </a:spcAft>
                        <a:buClr>
                          <a:srgbClr val="000000"/>
                        </a:buClr>
                        <a:buSzTx/>
                        <a:buFont typeface="Arial" panose="020B0604020202020204"/>
                        <a:buNone/>
                        <a:defRPr/>
                      </a:pPr>
                      <a:r>
                        <a:rPr lang="en-US" sz="1100" dirty="0">
                          <a:solidFill>
                            <a:schemeClr val="accent2"/>
                          </a:solidFill>
                          <a:latin typeface="Times New Roman" panose="02020603050405020304" pitchFamily="18" charset="0"/>
                          <a:cs typeface="Times New Roman" panose="02020603050405020304" pitchFamily="18" charset="0"/>
                        </a:rPr>
                        <a:t>IEEE International Conference on E Learning</a:t>
                      </a:r>
                      <a:endParaRPr lang="en-US" sz="1100" dirty="0">
                        <a:solidFill>
                          <a:schemeClr val="accent2"/>
                        </a:solidFill>
                        <a:latin typeface="Times New Roman" panose="02020603050405020304" pitchFamily="18" charset="0"/>
                        <a:cs typeface="Times New Roman" panose="02020603050405020304" pitchFamily="18" charset="0"/>
                      </a:endParaRPr>
                    </a:p>
                    <a:p>
                      <a:pPr marL="0" marR="0" lvl="0" indent="0" algn="ctr" defTabSz="914400" rtl="0" eaLnBrk="1" fontAlgn="ctr" latinLnBrk="0" hangingPunct="1">
                        <a:lnSpc>
                          <a:spcPct val="90000"/>
                        </a:lnSpc>
                        <a:spcBef>
                          <a:spcPts val="0"/>
                        </a:spcBef>
                        <a:spcAft>
                          <a:spcPts val="0"/>
                        </a:spcAft>
                        <a:buClr>
                          <a:srgbClr val="000000"/>
                        </a:buClr>
                        <a:buSzTx/>
                        <a:buFont typeface="Arial" panose="020B0604020202020204"/>
                        <a:buNone/>
                        <a:defRPr/>
                      </a:pPr>
                      <a:r>
                        <a:rPr lang="en-US" altLang="en-US" sz="11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rPr>
                        <a:t>(2019)</a:t>
                      </a:r>
                      <a:endParaRPr lang="en-US" altLang="en-US" sz="11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lgn="ctr">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algn="ctr" fontAlgn="base" latinLnBrk="0">
                        <a:buNone/>
                      </a:pPr>
                      <a:r>
                        <a:rPr lang="en-IN" sz="1100" dirty="0">
                          <a:solidFill>
                            <a:schemeClr val="accent2"/>
                          </a:solidFill>
                          <a:latin typeface="Times New Roman" panose="02020603050405020304" pitchFamily="18" charset="0"/>
                          <a:cs typeface="Times New Roman" panose="02020603050405020304" pitchFamily="18" charset="0"/>
                        </a:rPr>
                        <a:t>Face detection using webcam</a:t>
                      </a:r>
                      <a:endParaRPr lang="en-US" altLang="en-US" sz="1100" dirty="0">
                        <a:solidFill>
                          <a:schemeClr val="accent2"/>
                        </a:solidFill>
                        <a:effectLst/>
                        <a:latin typeface="Times New Roman" panose="02020603050405020304" pitchFamily="18" charset="0"/>
                        <a:cs typeface="Times New Roman" panose="02020603050405020304" pitchFamily="18" charset="0"/>
                      </a:endParaRPr>
                    </a:p>
                  </a:txBody>
                  <a:tcPr marL="60960" marR="60960" anchor="ctr">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lgn="ctr">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algn="ctr" fontAlgn="base" latinLnBrk="0">
                        <a:buNone/>
                      </a:pPr>
                      <a:r>
                        <a:rPr lang="en-US" sz="1100" dirty="0">
                          <a:solidFill>
                            <a:schemeClr val="accent2"/>
                          </a:solidFill>
                          <a:latin typeface="Times New Roman" panose="02020603050405020304" pitchFamily="18" charset="0"/>
                          <a:cs typeface="Times New Roman" panose="02020603050405020304" pitchFamily="18" charset="0"/>
                        </a:rPr>
                        <a:t>Verified student presence during exams</a:t>
                      </a:r>
                      <a:endParaRPr lang="en-US" altLang="en-US" sz="1100" dirty="0">
                        <a:solidFill>
                          <a:schemeClr val="accent2"/>
                        </a:solidFill>
                        <a:effectLst/>
                        <a:latin typeface="Times New Roman" panose="02020603050405020304" pitchFamily="18" charset="0"/>
                        <a:cs typeface="Times New Roman" panose="02020603050405020304" pitchFamily="18" charset="0"/>
                      </a:endParaRPr>
                    </a:p>
                  </a:txBody>
                  <a:tcPr marL="60960" marR="60960" anchor="ctr">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lgn="ctr">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marL="0" marR="0" lvl="0" indent="0" algn="ctr" defTabSz="914400" rtl="0" eaLnBrk="1" fontAlgn="ctr" latinLnBrk="0" hangingPunct="1">
                        <a:lnSpc>
                          <a:spcPct val="90000"/>
                        </a:lnSpc>
                        <a:spcBef>
                          <a:spcPts val="0"/>
                        </a:spcBef>
                        <a:spcAft>
                          <a:spcPts val="0"/>
                        </a:spcAft>
                        <a:buClr>
                          <a:srgbClr val="000000"/>
                        </a:buClr>
                        <a:buSzTx/>
                        <a:buFont typeface="Arial" panose="020B0604020202020204"/>
                        <a:buNone/>
                        <a:defRPr/>
                      </a:pPr>
                      <a:endParaRPr lang="en-US" sz="1100" dirty="0">
                        <a:solidFill>
                          <a:schemeClr val="accent2"/>
                        </a:solidFill>
                        <a:latin typeface="Times New Roman" panose="02020603050405020304" pitchFamily="18" charset="0"/>
                        <a:cs typeface="Times New Roman" panose="02020603050405020304" pitchFamily="18" charset="0"/>
                      </a:endParaRPr>
                    </a:p>
                    <a:p>
                      <a:pPr marL="0" marR="0" lvl="0" indent="0" algn="ctr" defTabSz="914400" rtl="0" eaLnBrk="1" fontAlgn="ctr" latinLnBrk="0" hangingPunct="1">
                        <a:lnSpc>
                          <a:spcPct val="90000"/>
                        </a:lnSpc>
                        <a:spcBef>
                          <a:spcPts val="0"/>
                        </a:spcBef>
                        <a:spcAft>
                          <a:spcPts val="0"/>
                        </a:spcAft>
                        <a:buClr>
                          <a:srgbClr val="000000"/>
                        </a:buClr>
                        <a:buSzTx/>
                        <a:buFont typeface="Arial" panose="020B0604020202020204"/>
                        <a:buNone/>
                        <a:defRPr/>
                      </a:pPr>
                      <a:r>
                        <a:rPr lang="en-US" sz="1100" dirty="0">
                          <a:solidFill>
                            <a:schemeClr val="accent2"/>
                          </a:solidFill>
                          <a:latin typeface="Times New Roman" panose="02020603050405020304" pitchFamily="18" charset="0"/>
                          <a:cs typeface="Times New Roman" panose="02020603050405020304" pitchFamily="18" charset="0"/>
                        </a:rPr>
                        <a:t>Cannot detect eye or head movements</a:t>
                      </a:r>
                      <a:endParaRPr lang="en-US" altLang="en-US" sz="1100" b="0" i="0" u="none" strike="noStrike" cap="none" dirty="0">
                        <a:solidFill>
                          <a:schemeClr val="accent2"/>
                        </a:solidFill>
                        <a:latin typeface="Times New Roman" panose="02020603050405020304" pitchFamily="18" charset="0"/>
                        <a:ea typeface="+mn-ea"/>
                        <a:cs typeface="Times New Roman" panose="02020603050405020304" pitchFamily="18" charset="0"/>
                        <a:sym typeface="Times New Roman" panose="02020603050405020304"/>
                      </a:endParaRPr>
                    </a:p>
                  </a:txBody>
                  <a:tcPr marL="91450" marR="91450" marT="45725" marB="45725">
                    <a:lnL w="12700" cap="flat" cmpd="sng" algn="ctr">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r>
              <a:tr h="1098549">
                <a:tc>
                  <a:txBody>
                    <a:bodyPr/>
                    <a:lstStyle/>
                    <a:p>
                      <a:pPr marL="0" marR="0" lvl="0" indent="0" algn="ctr" rtl="0">
                        <a:spcBef>
                          <a:spcPts val="0"/>
                        </a:spcBef>
                        <a:spcAft>
                          <a:spcPts val="0"/>
                        </a:spcAft>
                        <a:buNone/>
                      </a:pPr>
                      <a:endParaRPr lang="en-IN"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marR="0" lvl="0" indent="0" algn="ctr" rtl="0">
                        <a:spcBef>
                          <a:spcPts val="0"/>
                        </a:spcBef>
                        <a:spcAft>
                          <a:spcPts val="0"/>
                        </a:spcAft>
                        <a:buNone/>
                      </a:pPr>
                      <a:endParaRPr lang="en-IN"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marR="0" lvl="0" indent="0" algn="ctr" rtl="0">
                        <a:spcBef>
                          <a:spcPts val="0"/>
                        </a:spcBef>
                        <a:spcAft>
                          <a:spcPts val="0"/>
                        </a:spcAft>
                        <a:buNone/>
                      </a:pPr>
                      <a:r>
                        <a:rPr lang="en-IN"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3</a:t>
                      </a:r>
                      <a:endParaRPr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lgn="ctr">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algn="ctr" fontAlgn="base" latinLnBrk="0">
                        <a:buNone/>
                      </a:pPr>
                      <a:r>
                        <a:rPr lang="en-US" sz="1100" dirty="0">
                          <a:solidFill>
                            <a:schemeClr val="accent2"/>
                          </a:solidFill>
                          <a:latin typeface="Times New Roman" panose="02020603050405020304" pitchFamily="18" charset="0"/>
                          <a:cs typeface="Times New Roman" panose="02020603050405020304" pitchFamily="18" charset="0"/>
                        </a:rPr>
                        <a:t>Automated Online Exam Proctoring Using Machine Learning</a:t>
                      </a:r>
                      <a:endParaRPr lang="en-US" altLang="en-US" sz="1100" dirty="0">
                        <a:solidFill>
                          <a:schemeClr val="accent2"/>
                        </a:solidFill>
                        <a:effectLst/>
                        <a:latin typeface="Times New Roman" panose="02020603050405020304" pitchFamily="18" charset="0"/>
                        <a:cs typeface="Times New Roman" panose="02020603050405020304" pitchFamily="18" charset="0"/>
                      </a:endParaRPr>
                    </a:p>
                  </a:txBody>
                  <a:tcPr marL="60960" marR="60960" anchor="ctr">
                    <a:lnL w="12700" cap="flat" cmpd="sng" algn="ctr">
                      <a:solidFill>
                        <a:srgbClr val="586847"/>
                      </a:solidFill>
                      <a:prstDash val="solid"/>
                      <a:round/>
                      <a:headEnd type="none" w="sm" len="sm"/>
                      <a:tailEnd type="none" w="sm" len="sm"/>
                    </a:lnL>
                    <a:lnR w="12700" cap="flat" cmpd="sng" algn="ctr">
                      <a:solidFill>
                        <a:srgbClr val="586847"/>
                      </a:solidFill>
                      <a:prstDash val="solid"/>
                      <a:round/>
                      <a:headEnd type="none" w="sm" len="sm"/>
                      <a:tailEnd type="none" w="sm" len="sm"/>
                    </a:lnR>
                    <a:lnT w="12700" cap="flat" cmpd="sng" algn="ctr">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algn="ctr" fontAlgn="base" latinLnBrk="0">
                        <a:buNone/>
                      </a:pPr>
                      <a:r>
                        <a:rPr lang="en-IN" sz="1100" dirty="0">
                          <a:solidFill>
                            <a:schemeClr val="accent2"/>
                          </a:solidFill>
                          <a:latin typeface="Times New Roman" panose="02020603050405020304" pitchFamily="18" charset="0"/>
                          <a:cs typeface="Times New Roman" panose="02020603050405020304" pitchFamily="18" charset="0"/>
                        </a:rPr>
                        <a:t>Chen et al</a:t>
                      </a:r>
                      <a:endParaRPr lang="en-US" altLang="en-US" sz="1100" dirty="0">
                        <a:solidFill>
                          <a:schemeClr val="accent2"/>
                        </a:solidFill>
                        <a:effectLst/>
                        <a:latin typeface="Times New Roman" panose="02020603050405020304" pitchFamily="18" charset="0"/>
                        <a:cs typeface="Times New Roman" panose="02020603050405020304" pitchFamily="18" charset="0"/>
                      </a:endParaRPr>
                    </a:p>
                  </a:txBody>
                  <a:tcPr marL="60960" marR="60960" anchor="ctr">
                    <a:lnL w="12700" cap="flat" cmpd="sng" algn="ctr">
                      <a:solidFill>
                        <a:srgbClr val="586847"/>
                      </a:solidFill>
                      <a:prstDash val="solid"/>
                      <a:round/>
                      <a:headEnd type="none" w="sm" len="sm"/>
                      <a:tailEnd type="none" w="sm" len="sm"/>
                    </a:lnL>
                    <a:lnR w="12700" cap="flat" cmpd="sng" algn="ctr">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algn="ctr" fontAlgn="base" latinLnBrk="0">
                        <a:buNone/>
                      </a:pPr>
                      <a:r>
                        <a:rPr lang="en-IN" sz="1100" dirty="0">
                          <a:solidFill>
                            <a:schemeClr val="accent2"/>
                          </a:solidFill>
                          <a:latin typeface="Times New Roman" panose="02020603050405020304" pitchFamily="18" charset="0"/>
                          <a:cs typeface="Times New Roman" panose="02020603050405020304" pitchFamily="18" charset="0"/>
                        </a:rPr>
                        <a:t>Journal of Computer Applications</a:t>
                      </a:r>
                      <a:endParaRPr lang="en-IN" sz="1100" dirty="0">
                        <a:solidFill>
                          <a:schemeClr val="accent2"/>
                        </a:solidFill>
                        <a:latin typeface="Times New Roman" panose="02020603050405020304" pitchFamily="18" charset="0"/>
                        <a:cs typeface="Times New Roman" panose="02020603050405020304" pitchFamily="18" charset="0"/>
                      </a:endParaRPr>
                    </a:p>
                    <a:p>
                      <a:pPr algn="ctr" fontAlgn="base" latinLnBrk="0">
                        <a:buNone/>
                      </a:pPr>
                      <a:r>
                        <a:rPr lang="en-IN" altLang="en-US" sz="1100" dirty="0">
                          <a:solidFill>
                            <a:schemeClr val="accent2"/>
                          </a:solidFill>
                          <a:effectLst/>
                          <a:latin typeface="Times New Roman" panose="02020603050405020304" pitchFamily="18" charset="0"/>
                          <a:cs typeface="Times New Roman" panose="02020603050405020304" pitchFamily="18" charset="0"/>
                        </a:rPr>
                        <a:t>(2020)</a:t>
                      </a:r>
                      <a:endParaRPr lang="en-US" altLang="en-US" sz="1100" dirty="0">
                        <a:solidFill>
                          <a:schemeClr val="accent2"/>
                        </a:solidFill>
                        <a:effectLst/>
                        <a:latin typeface="Times New Roman" panose="02020603050405020304" pitchFamily="18" charset="0"/>
                        <a:cs typeface="Times New Roman" panose="02020603050405020304" pitchFamily="18" charset="0"/>
                      </a:endParaRPr>
                    </a:p>
                  </a:txBody>
                  <a:tcPr marL="60960" marR="60960" anchor="ctr">
                    <a:lnL w="12700" cap="flat" cmpd="sng" algn="ctr">
                      <a:solidFill>
                        <a:srgbClr val="586847"/>
                      </a:solidFill>
                      <a:prstDash val="solid"/>
                      <a:round/>
                      <a:headEnd type="none" w="sm" len="sm"/>
                      <a:tailEnd type="none" w="sm" len="sm"/>
                    </a:lnL>
                    <a:lnR w="12700" cap="flat" cmpd="sng" algn="ctr">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algn="ctr" fontAlgn="base" latinLnBrk="0">
                        <a:buNone/>
                      </a:pPr>
                      <a:r>
                        <a:rPr lang="en-IN" sz="1100" dirty="0">
                          <a:solidFill>
                            <a:schemeClr val="accent2"/>
                          </a:solidFill>
                          <a:latin typeface="Times New Roman" panose="02020603050405020304" pitchFamily="18" charset="0"/>
                          <a:cs typeface="Times New Roman" panose="02020603050405020304" pitchFamily="18" charset="0"/>
                        </a:rPr>
                        <a:t>ML-based anomaly detection</a:t>
                      </a:r>
                      <a:endParaRPr lang="en-US" altLang="en-US" sz="1100" dirty="0">
                        <a:solidFill>
                          <a:schemeClr val="accent2"/>
                        </a:solidFill>
                        <a:effectLst/>
                        <a:latin typeface="Times New Roman" panose="02020603050405020304" pitchFamily="18" charset="0"/>
                        <a:cs typeface="Times New Roman" panose="02020603050405020304" pitchFamily="18" charset="0"/>
                      </a:endParaRPr>
                    </a:p>
                  </a:txBody>
                  <a:tcPr marL="60960" marR="60960" anchor="ctr">
                    <a:lnL w="12700" cap="flat" cmpd="sng" algn="ctr">
                      <a:solidFill>
                        <a:srgbClr val="586847"/>
                      </a:solidFill>
                      <a:prstDash val="solid"/>
                      <a:round/>
                      <a:headEnd type="none" w="sm" len="sm"/>
                      <a:tailEnd type="none" w="sm" len="sm"/>
                    </a:lnL>
                    <a:lnR w="12700" cap="flat" cmpd="sng" algn="ctr">
                      <a:solidFill>
                        <a:srgbClr val="586847"/>
                      </a:solidFill>
                      <a:prstDash val="solid"/>
                      <a:round/>
                      <a:headEnd type="none" w="sm" len="sm"/>
                      <a:tailEnd type="none" w="sm" len="sm"/>
                    </a:lnR>
                    <a:lnT w="12700" cap="flat" cmpd="sng" algn="ctr">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algn="ctr" fontAlgn="base" latinLnBrk="0">
                        <a:buNone/>
                      </a:pPr>
                      <a:r>
                        <a:rPr lang="en-IN" sz="1100" dirty="0">
                          <a:solidFill>
                            <a:schemeClr val="accent2"/>
                          </a:solidFill>
                          <a:latin typeface="Times New Roman" panose="02020603050405020304" pitchFamily="18" charset="0"/>
                          <a:cs typeface="Times New Roman" panose="02020603050405020304" pitchFamily="18" charset="0"/>
                        </a:rPr>
                        <a:t>Reduced manual supervision</a:t>
                      </a:r>
                      <a:endParaRPr lang="en-US" altLang="en-US" sz="1100" dirty="0">
                        <a:solidFill>
                          <a:schemeClr val="accent2"/>
                        </a:solidFill>
                        <a:effectLst/>
                        <a:latin typeface="Times New Roman" panose="02020603050405020304" pitchFamily="18" charset="0"/>
                        <a:cs typeface="Times New Roman" panose="02020603050405020304" pitchFamily="18" charset="0"/>
                      </a:endParaRPr>
                    </a:p>
                  </a:txBody>
                  <a:tcPr marL="60960" marR="60960" anchor="ctr">
                    <a:lnL w="12700" cap="flat" cmpd="sng" algn="ctr">
                      <a:solidFill>
                        <a:srgbClr val="586847"/>
                      </a:solidFill>
                      <a:prstDash val="solid"/>
                      <a:round/>
                      <a:headEnd type="none" w="sm" len="sm"/>
                      <a:tailEnd type="none" w="sm" len="sm"/>
                    </a:lnL>
                    <a:lnR w="12700" cap="flat" cmpd="sng" algn="ctr">
                      <a:solidFill>
                        <a:srgbClr val="586847"/>
                      </a:solidFill>
                      <a:prstDash val="solid"/>
                      <a:round/>
                      <a:headEnd type="none" w="sm" len="sm"/>
                      <a:tailEnd type="none" w="sm" len="sm"/>
                    </a:lnR>
                    <a:lnT w="12700" cap="flat" cmpd="sng" algn="ctr">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algn="ctr" fontAlgn="base" latinLnBrk="0">
                        <a:buNone/>
                      </a:pPr>
                      <a:r>
                        <a:rPr lang="en-IN" sz="1100" dirty="0">
                          <a:solidFill>
                            <a:schemeClr val="accent2"/>
                          </a:solidFill>
                          <a:latin typeface="Times New Roman" panose="02020603050405020304" pitchFamily="18" charset="0"/>
                          <a:cs typeface="Times New Roman" panose="02020603050405020304" pitchFamily="18" charset="0"/>
                        </a:rPr>
                        <a:t>Cannot detect physical cheating</a:t>
                      </a:r>
                      <a:endParaRPr lang="en-US" altLang="en-US" sz="1100" dirty="0">
                        <a:solidFill>
                          <a:schemeClr val="accent2"/>
                        </a:solidFill>
                        <a:effectLst/>
                        <a:latin typeface="Times New Roman" panose="02020603050405020304" pitchFamily="18" charset="0"/>
                        <a:cs typeface="Times New Roman" panose="02020603050405020304" pitchFamily="18" charset="0"/>
                      </a:endParaRPr>
                    </a:p>
                  </a:txBody>
                  <a:tcPr marL="60960" marR="60960" anchor="ctr">
                    <a:lnL w="12700" cap="flat" cmpd="sng" algn="ctr">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r>
            </a:tbl>
          </a:graphicData>
        </a:graphic>
      </p:graphicFrame>
      <p:pic>
        <p:nvPicPr>
          <p:cNvPr id="4" name="Picture 3"/>
          <p:cNvPicPr>
            <a:picLocks noChangeAspect="1"/>
          </p:cNvPicPr>
          <p:nvPr/>
        </p:nvPicPr>
        <p:blipFill>
          <a:blip r:embed="rId2"/>
          <a:stretch>
            <a:fillRect/>
          </a:stretch>
        </p:blipFill>
        <p:spPr>
          <a:xfrm>
            <a:off x="313042" y="234458"/>
            <a:ext cx="1943899" cy="4835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0"/>
          <p:cNvSpPr txBox="1"/>
          <p:nvPr/>
        </p:nvSpPr>
        <p:spPr>
          <a:xfrm>
            <a:off x="2333949" y="250031"/>
            <a:ext cx="4902835" cy="491808"/>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chemeClr val="dk1"/>
              </a:buClr>
              <a:buSzPts val="5200"/>
              <a:buFont typeface="Noto Serif Ethiopic" panose="02020502060505020204"/>
              <a:buNone/>
            </a:pPr>
            <a:r>
              <a:rPr lang="en-US" sz="2800" b="0" i="0" u="none" strike="noStrike" cap="none" dirty="0">
                <a:solidFill>
                  <a:schemeClr val="dk1"/>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LITERATURE SURVEY</a:t>
            </a:r>
            <a:endParaRPr lang="en-US" sz="2800" b="0" i="0" u="none" strike="noStrike" cap="none" dirty="0">
              <a:solidFill>
                <a:schemeClr val="dk1"/>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endParaRPr>
          </a:p>
        </p:txBody>
      </p:sp>
      <p:graphicFrame>
        <p:nvGraphicFramePr>
          <p:cNvPr id="4" name="Google Shape;109;p6"/>
          <p:cNvGraphicFramePr/>
          <p:nvPr/>
        </p:nvGraphicFramePr>
        <p:xfrm>
          <a:off x="525176" y="1062984"/>
          <a:ext cx="8093642" cy="3253288"/>
        </p:xfrm>
        <a:graphic>
          <a:graphicData uri="http://schemas.openxmlformats.org/drawingml/2006/table">
            <a:tbl>
              <a:tblPr firstRow="1" bandRow="1">
                <a:noFill/>
              </a:tblPr>
              <a:tblGrid>
                <a:gridCol w="406737"/>
                <a:gridCol w="1414345"/>
                <a:gridCol w="773724"/>
                <a:gridCol w="1031630"/>
                <a:gridCol w="1678364"/>
                <a:gridCol w="1520072"/>
                <a:gridCol w="1268770"/>
              </a:tblGrid>
              <a:tr h="686010">
                <a:tc>
                  <a:txBody>
                    <a:bodyPr/>
                    <a:lstStyle/>
                    <a:p>
                      <a:pPr marL="0" marR="0" lvl="0" indent="0" algn="ctr" rtl="0">
                        <a:spcBef>
                          <a:spcPts val="0"/>
                        </a:spcBef>
                        <a:spcAft>
                          <a:spcPts val="0"/>
                        </a:spcAft>
                        <a:buNone/>
                      </a:pPr>
                      <a:r>
                        <a:rPr lang="en-US"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No</a:t>
                      </a:r>
                      <a:endParaRPr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ctr" rtl="0">
                        <a:spcBef>
                          <a:spcPts val="0"/>
                        </a:spcBef>
                        <a:spcAft>
                          <a:spcPts val="0"/>
                        </a:spcAft>
                        <a:buNone/>
                      </a:pPr>
                      <a:r>
                        <a:rPr lang="en-US"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Title</a:t>
                      </a:r>
                      <a:endParaRPr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marL="0" marR="0" lvl="0" indent="0" algn="ctr" rtl="0">
                        <a:spcBef>
                          <a:spcPts val="0"/>
                        </a:spcBef>
                        <a:spcAft>
                          <a:spcPts val="0"/>
                        </a:spcAft>
                        <a:buNone/>
                      </a:pPr>
                      <a:r>
                        <a:rPr lang="en-US"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Author</a:t>
                      </a:r>
                      <a:endParaRPr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marL="0" marR="0" lvl="0" indent="0" algn="ctr" rtl="0">
                        <a:spcBef>
                          <a:spcPts val="0"/>
                        </a:spcBef>
                        <a:spcAft>
                          <a:spcPts val="0"/>
                        </a:spcAft>
                        <a:buNone/>
                      </a:pPr>
                      <a:r>
                        <a:rPr lang="en-US"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Journal Name &amp; Year</a:t>
                      </a:r>
                      <a:endParaRPr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marL="0" marR="0" lvl="0" indent="0" algn="ctr" rtl="0">
                        <a:spcBef>
                          <a:spcPts val="0"/>
                        </a:spcBef>
                        <a:spcAft>
                          <a:spcPts val="0"/>
                        </a:spcAft>
                        <a:buNone/>
                      </a:pPr>
                      <a:r>
                        <a:rPr lang="en-US" sz="110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Methodology Adapted</a:t>
                      </a:r>
                      <a:endParaRPr sz="110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marL="0" marR="0" lvl="0" indent="0" algn="ctr" rtl="0">
                        <a:spcBef>
                          <a:spcPts val="0"/>
                        </a:spcBef>
                        <a:spcAft>
                          <a:spcPts val="0"/>
                        </a:spcAft>
                        <a:buNone/>
                      </a:pPr>
                      <a:r>
                        <a:rPr lang="en-US" sz="110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Key Findings </a:t>
                      </a:r>
                      <a:endParaRPr sz="110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marL="0" marR="0" lvl="0" indent="0" algn="ctr" rtl="0">
                        <a:spcBef>
                          <a:spcPts val="0"/>
                        </a:spcBef>
                        <a:spcAft>
                          <a:spcPts val="0"/>
                        </a:spcAft>
                        <a:buNone/>
                      </a:pPr>
                      <a:r>
                        <a:rPr lang="en-US" sz="110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Gaps</a:t>
                      </a:r>
                      <a:endParaRPr sz="110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r>
              <a:tr h="1077999">
                <a:tc>
                  <a:txBody>
                    <a:bodyPr/>
                    <a:lstStyle/>
                    <a:p>
                      <a:pPr marL="0" marR="0" lvl="0" indent="0" algn="ctr" rtl="0">
                        <a:spcBef>
                          <a:spcPts val="0"/>
                        </a:spcBef>
                        <a:spcAft>
                          <a:spcPts val="0"/>
                        </a:spcAft>
                        <a:buNone/>
                      </a:pPr>
                      <a:endParaRPr lang="en-US"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marR="0" lvl="0" indent="0" algn="ctr" rtl="0">
                        <a:spcBef>
                          <a:spcPts val="0"/>
                        </a:spcBef>
                        <a:spcAft>
                          <a:spcPts val="0"/>
                        </a:spcAft>
                        <a:buNone/>
                      </a:pPr>
                      <a:endParaRPr lang="en-US"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marR="0" lvl="0" indent="0" algn="ctr" rtl="0">
                        <a:spcBef>
                          <a:spcPts val="0"/>
                        </a:spcBef>
                        <a:spcAft>
                          <a:spcPts val="0"/>
                        </a:spcAft>
                        <a:buNone/>
                      </a:pPr>
                      <a:r>
                        <a:rPr lang="en-US"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5</a:t>
                      </a:r>
                      <a:endParaRPr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lgn="ctr">
                      <a:solidFill>
                        <a:srgbClr val="586847"/>
                      </a:solidFill>
                      <a:prstDash val="solid"/>
                      <a:round/>
                      <a:headEnd type="none" w="sm" len="sm"/>
                      <a:tailEnd type="none" w="sm" len="sm"/>
                    </a:lnR>
                    <a:lnT w="12700" cap="flat" cmpd="sng" algn="ctr">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algn="ctr">
                        <a:buNone/>
                      </a:pPr>
                      <a:r>
                        <a:rPr lang="en-IN" sz="1100" dirty="0">
                          <a:solidFill>
                            <a:schemeClr val="accent2"/>
                          </a:solidFill>
                          <a:latin typeface="Times New Roman" panose="02020603050405020304" pitchFamily="18" charset="0"/>
                          <a:cs typeface="Times New Roman" panose="02020603050405020304" pitchFamily="18" charset="0"/>
                        </a:rPr>
                        <a:t>Intelligent Remote Exam Monitoring Using AI</a:t>
                      </a:r>
                      <a:endParaRPr lang="en-US" sz="1100"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rgbClr val="586847"/>
                      </a:solidFill>
                      <a:prstDash val="solid"/>
                      <a:round/>
                      <a:headEnd type="none" w="sm" len="sm"/>
                      <a:tailEnd type="none" w="sm" len="sm"/>
                    </a:lnL>
                    <a:lnR w="12700" cap="flat" cmpd="sng" algn="ctr">
                      <a:solidFill>
                        <a:srgbClr val="586847"/>
                      </a:solidFill>
                      <a:prstDash val="solid"/>
                      <a:round/>
                      <a:headEnd type="none" w="sm" len="sm"/>
                      <a:tailEnd type="none" w="sm" len="sm"/>
                    </a:lnR>
                    <a:lnT w="12700" cap="flat" cmpd="sng" algn="ctr">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algn="ctr">
                        <a:buNone/>
                      </a:pPr>
                      <a:r>
                        <a:rPr lang="en-IN" sz="1100" dirty="0">
                          <a:solidFill>
                            <a:schemeClr val="accent2"/>
                          </a:solidFill>
                          <a:latin typeface="Times New Roman" panose="02020603050405020304" pitchFamily="18" charset="0"/>
                          <a:cs typeface="Times New Roman" panose="02020603050405020304" pitchFamily="18" charset="0"/>
                        </a:rPr>
                        <a:t>Rahman &amp; Ahmed</a:t>
                      </a:r>
                      <a:endParaRPr lang="en-IN" sz="1100"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rgbClr val="586847"/>
                      </a:solidFill>
                      <a:prstDash val="solid"/>
                      <a:round/>
                      <a:headEnd type="none" w="sm" len="sm"/>
                      <a:tailEnd type="none" w="sm" len="sm"/>
                    </a:lnL>
                    <a:lnR w="12700" cap="flat" cmpd="sng" algn="ctr">
                      <a:solidFill>
                        <a:srgbClr val="586847"/>
                      </a:solidFill>
                      <a:prstDash val="solid"/>
                      <a:round/>
                      <a:headEnd type="none" w="sm" len="sm"/>
                      <a:tailEnd type="none" w="sm" len="sm"/>
                    </a:lnR>
                    <a:lnT w="12700" cap="flat" cmpd="sng" algn="ctr">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algn="ctr">
                        <a:buNone/>
                      </a:pPr>
                      <a:r>
                        <a:rPr lang="en-US" sz="1100" dirty="0">
                          <a:solidFill>
                            <a:schemeClr val="accent2"/>
                          </a:solidFill>
                          <a:latin typeface="Times New Roman" panose="02020603050405020304" pitchFamily="18" charset="0"/>
                          <a:cs typeface="Times New Roman" panose="02020603050405020304" pitchFamily="18" charset="0"/>
                        </a:rPr>
                        <a:t>International Journal of Advanced Computer Science</a:t>
                      </a:r>
                      <a:endParaRPr lang="en-US" sz="1100" dirty="0">
                        <a:solidFill>
                          <a:schemeClr val="accent2"/>
                        </a:solidFill>
                        <a:latin typeface="Times New Roman" panose="02020603050405020304" pitchFamily="18" charset="0"/>
                        <a:cs typeface="Times New Roman" panose="02020603050405020304" pitchFamily="18" charset="0"/>
                      </a:endParaRPr>
                    </a:p>
                    <a:p>
                      <a:pPr algn="ctr">
                        <a:buNone/>
                      </a:pPr>
                      <a:r>
                        <a:rPr lang="en-US" sz="1100" dirty="0">
                          <a:solidFill>
                            <a:schemeClr val="bg1">
                              <a:lumMod val="10000"/>
                            </a:schemeClr>
                          </a:solidFill>
                          <a:latin typeface="Times New Roman" panose="02020603050405020304" pitchFamily="18" charset="0"/>
                          <a:cs typeface="Times New Roman" panose="02020603050405020304" pitchFamily="18" charset="0"/>
                        </a:rPr>
                        <a:t>(2021)</a:t>
                      </a:r>
                      <a:endParaRPr lang="en-US" sz="1100" dirty="0">
                        <a:solidFill>
                          <a:schemeClr val="bg1">
                            <a:lumMod val="10000"/>
                          </a:schemeClr>
                        </a:solidFill>
                        <a:latin typeface="Times New Roman" panose="02020603050405020304" pitchFamily="18" charset="0"/>
                        <a:cs typeface="Times New Roman" panose="02020603050405020304" pitchFamily="18" charset="0"/>
                      </a:endParaRPr>
                    </a:p>
                  </a:txBody>
                  <a:tcPr anchor="ctr">
                    <a:lnL w="12700" cap="flat" cmpd="sng" algn="ctr">
                      <a:solidFill>
                        <a:srgbClr val="586847"/>
                      </a:solidFill>
                      <a:prstDash val="solid"/>
                      <a:round/>
                      <a:headEnd type="none" w="sm" len="sm"/>
                      <a:tailEnd type="none" w="sm" len="sm"/>
                    </a:lnL>
                    <a:lnR w="12700" cap="flat" cmpd="sng" algn="ctr">
                      <a:solidFill>
                        <a:srgbClr val="586847"/>
                      </a:solidFill>
                      <a:prstDash val="solid"/>
                      <a:round/>
                      <a:headEnd type="none" w="sm" len="sm"/>
                      <a:tailEnd type="none" w="sm" len="sm"/>
                    </a:lnR>
                    <a:lnT w="12700" cap="flat" cmpd="sng" algn="ctr">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algn="ctr">
                        <a:buNone/>
                      </a:pPr>
                      <a:r>
                        <a:rPr lang="en-IN" sz="1100" dirty="0">
                          <a:solidFill>
                            <a:schemeClr val="accent2"/>
                          </a:solidFill>
                          <a:latin typeface="Times New Roman" panose="02020603050405020304" pitchFamily="18" charset="0"/>
                          <a:cs typeface="Times New Roman" panose="02020603050405020304" pitchFamily="18" charset="0"/>
                        </a:rPr>
                        <a:t>AI + ML models for behaviour analysis</a:t>
                      </a:r>
                      <a:endParaRPr lang="en-IN" sz="1100"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rgbClr val="586847"/>
                      </a:solidFill>
                      <a:prstDash val="solid"/>
                      <a:round/>
                      <a:headEnd type="none" w="sm" len="sm"/>
                      <a:tailEnd type="none" w="sm" len="sm"/>
                    </a:lnL>
                    <a:lnR w="12700" cap="flat" cmpd="sng" algn="ctr">
                      <a:solidFill>
                        <a:srgbClr val="586847"/>
                      </a:solidFill>
                      <a:prstDash val="solid"/>
                      <a:round/>
                      <a:headEnd type="none" w="sm" len="sm"/>
                      <a:tailEnd type="none" w="sm" len="sm"/>
                    </a:lnR>
                    <a:lnT w="12700" cap="flat" cmpd="sng" algn="ctr">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algn="ctr">
                        <a:buNone/>
                      </a:pPr>
                      <a:r>
                        <a:rPr lang="en-US" sz="1100" dirty="0">
                          <a:solidFill>
                            <a:schemeClr val="accent2"/>
                          </a:solidFill>
                          <a:latin typeface="Times New Roman" panose="02020603050405020304" pitchFamily="18" charset="0"/>
                          <a:cs typeface="Times New Roman" panose="02020603050405020304" pitchFamily="18" charset="0"/>
                        </a:rPr>
                        <a:t>AI models can detect unusual behaviors and reduce cheating risk</a:t>
                      </a:r>
                      <a:endParaRPr lang="en-US" sz="1100"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rgbClr val="586847"/>
                      </a:solidFill>
                      <a:prstDash val="solid"/>
                      <a:round/>
                      <a:headEnd type="none" w="sm" len="sm"/>
                      <a:tailEnd type="none" w="sm" len="sm"/>
                    </a:lnL>
                    <a:lnR w="12700" cap="flat" cmpd="sng" algn="ctr">
                      <a:solidFill>
                        <a:srgbClr val="586847"/>
                      </a:solidFill>
                      <a:prstDash val="solid"/>
                      <a:round/>
                      <a:headEnd type="none" w="sm" len="sm"/>
                      <a:tailEnd type="none" w="sm" len="sm"/>
                    </a:lnR>
                    <a:lnT w="12700" cap="flat" cmpd="sng" algn="ctr">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c>
                  <a:txBody>
                    <a:bodyPr/>
                    <a:lstStyle/>
                    <a:p>
                      <a:pPr algn="ctr">
                        <a:buNone/>
                      </a:pPr>
                      <a:r>
                        <a:rPr lang="en-US" sz="1100" dirty="0">
                          <a:solidFill>
                            <a:schemeClr val="accent2"/>
                          </a:solidFill>
                          <a:latin typeface="Times New Roman" panose="02020603050405020304" pitchFamily="18" charset="0"/>
                          <a:cs typeface="Times New Roman" panose="02020603050405020304" pitchFamily="18" charset="0"/>
                        </a:rPr>
                        <a:t>Limited real-time feedback for students</a:t>
                      </a:r>
                      <a:endParaRPr lang="en-US" sz="1100"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lgn="ctr">
                      <a:solidFill>
                        <a:srgbClr val="586847"/>
                      </a:solidFill>
                      <a:prstDash val="solid"/>
                      <a:round/>
                      <a:headEnd type="none" w="sm" len="sm"/>
                      <a:tailEnd type="none" w="sm" len="sm"/>
                    </a:lnT>
                    <a:lnB w="12700" cap="flat" cmpd="sng" algn="ctr">
                      <a:solidFill>
                        <a:srgbClr val="586847"/>
                      </a:solidFill>
                      <a:prstDash val="solid"/>
                      <a:round/>
                      <a:headEnd type="none" w="sm" len="sm"/>
                      <a:tailEnd type="none" w="sm" len="sm"/>
                    </a:lnB>
                  </a:tcPr>
                </a:tc>
              </a:tr>
              <a:tr h="1469998">
                <a:tc>
                  <a:txBody>
                    <a:bodyPr/>
                    <a:lstStyle/>
                    <a:p>
                      <a:pPr marL="0" marR="0" lvl="0" indent="0" algn="ctr" rtl="0">
                        <a:spcBef>
                          <a:spcPts val="0"/>
                        </a:spcBef>
                        <a:spcAft>
                          <a:spcPts val="0"/>
                        </a:spcAft>
                        <a:buNone/>
                      </a:pPr>
                      <a:endParaRPr lang="en-IN"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marR="0" lvl="0" indent="0" algn="ctr" rtl="0">
                        <a:spcBef>
                          <a:spcPts val="0"/>
                        </a:spcBef>
                        <a:spcAft>
                          <a:spcPts val="0"/>
                        </a:spcAft>
                        <a:buNone/>
                      </a:pPr>
                      <a:endParaRPr lang="en-IN"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0" marR="0" lvl="0" indent="0" algn="ctr" rtl="0">
                        <a:spcBef>
                          <a:spcPts val="0"/>
                        </a:spcBef>
                        <a:spcAft>
                          <a:spcPts val="0"/>
                        </a:spcAft>
                        <a:buNone/>
                      </a:pPr>
                      <a:r>
                        <a:rPr lang="en-IN"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6</a:t>
                      </a:r>
                      <a:endParaRPr sz="1100" dirty="0">
                        <a:solidFill>
                          <a:schemeClr val="bg1">
                            <a:lumMod val="10000"/>
                          </a:schemeClr>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91450" marR="91450" marT="45725" marB="45725">
                    <a:lnL w="12700" cap="flat" cmpd="sng">
                      <a:solidFill>
                        <a:srgbClr val="586847"/>
                      </a:solidFill>
                      <a:prstDash val="solid"/>
                      <a:round/>
                      <a:headEnd type="none" w="sm" len="sm"/>
                      <a:tailEnd type="none" w="sm" len="sm"/>
                    </a:lnL>
                    <a:lnR w="12700" cap="flat" cmpd="sng" algn="ctr">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algn="ctr" fontAlgn="base" latinLnBrk="0">
                        <a:buNone/>
                      </a:pPr>
                      <a:r>
                        <a:rPr lang="en-US" sz="1100" dirty="0">
                          <a:solidFill>
                            <a:schemeClr val="accent2"/>
                          </a:solidFill>
                          <a:latin typeface="Times New Roman" panose="02020603050405020304" pitchFamily="18" charset="0"/>
                          <a:cs typeface="Times New Roman" panose="02020603050405020304" pitchFamily="18" charset="0"/>
                        </a:rPr>
                        <a:t>Automated Online Proctoring with Multi Modal Data</a:t>
                      </a:r>
                      <a:endParaRPr lang="en-US" altLang="en-US" sz="1100" dirty="0">
                        <a:solidFill>
                          <a:schemeClr val="accent2"/>
                        </a:solidFill>
                        <a:effectLst/>
                        <a:latin typeface="Times New Roman" panose="02020603050405020304" pitchFamily="18" charset="0"/>
                        <a:cs typeface="Times New Roman" panose="02020603050405020304" pitchFamily="18" charset="0"/>
                      </a:endParaRPr>
                    </a:p>
                  </a:txBody>
                  <a:tcPr marL="60960" marR="60960" anchor="ctr">
                    <a:lnL w="12700" cap="flat" cmpd="sng" algn="ctr">
                      <a:solidFill>
                        <a:srgbClr val="586847"/>
                      </a:solidFill>
                      <a:prstDash val="solid"/>
                      <a:round/>
                      <a:headEnd type="none" w="sm" len="sm"/>
                      <a:tailEnd type="none" w="sm" len="sm"/>
                    </a:lnL>
                    <a:lnR w="12700" cap="flat" cmpd="sng" algn="ctr">
                      <a:solidFill>
                        <a:srgbClr val="586847"/>
                      </a:solidFill>
                      <a:prstDash val="solid"/>
                      <a:round/>
                      <a:headEnd type="none" w="sm" len="sm"/>
                      <a:tailEnd type="none" w="sm" len="sm"/>
                    </a:lnR>
                    <a:lnT w="12700" cap="flat" cmpd="sng" algn="ctr">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algn="ctr" fontAlgn="base" latinLnBrk="0">
                        <a:buNone/>
                      </a:pPr>
                      <a:r>
                        <a:rPr lang="en-IN" sz="1100" dirty="0">
                          <a:solidFill>
                            <a:schemeClr val="accent2"/>
                          </a:solidFill>
                          <a:latin typeface="Times New Roman" panose="02020603050405020304" pitchFamily="18" charset="0"/>
                          <a:cs typeface="Times New Roman" panose="02020603050405020304" pitchFamily="18" charset="0"/>
                        </a:rPr>
                        <a:t>Singh et al</a:t>
                      </a:r>
                      <a:endParaRPr lang="en-US" altLang="en-US" sz="1100" dirty="0">
                        <a:solidFill>
                          <a:schemeClr val="accent2"/>
                        </a:solidFill>
                        <a:effectLst/>
                        <a:latin typeface="Times New Roman" panose="02020603050405020304" pitchFamily="18" charset="0"/>
                        <a:cs typeface="Times New Roman" panose="02020603050405020304" pitchFamily="18" charset="0"/>
                      </a:endParaRPr>
                    </a:p>
                  </a:txBody>
                  <a:tcPr marL="60960" marR="60960" anchor="ctr">
                    <a:lnL w="12700" cap="flat" cmpd="sng" algn="ctr">
                      <a:solidFill>
                        <a:srgbClr val="586847"/>
                      </a:solidFill>
                      <a:prstDash val="solid"/>
                      <a:round/>
                      <a:headEnd type="none" w="sm" len="sm"/>
                      <a:tailEnd type="none" w="sm" len="sm"/>
                    </a:lnL>
                    <a:lnR w="12700" cap="flat" cmpd="sng" algn="ctr">
                      <a:solidFill>
                        <a:srgbClr val="586847"/>
                      </a:solidFill>
                      <a:prstDash val="solid"/>
                      <a:round/>
                      <a:headEnd type="none" w="sm" len="sm"/>
                      <a:tailEnd type="none" w="sm" len="sm"/>
                    </a:lnR>
                    <a:lnT w="12700" cap="flat" cmpd="sng" algn="ctr">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1100" dirty="0">
                          <a:solidFill>
                            <a:schemeClr val="accent2"/>
                          </a:solidFill>
                          <a:latin typeface="Times New Roman" panose="02020603050405020304" pitchFamily="18" charset="0"/>
                          <a:cs typeface="Times New Roman" panose="02020603050405020304" pitchFamily="18" charset="0"/>
                        </a:rPr>
                        <a:t>IEEE Transactions on Learning Technologies</a:t>
                      </a:r>
                      <a:endParaRPr lang="en-IN" sz="1100" dirty="0">
                        <a:solidFill>
                          <a:schemeClr val="accent2"/>
                        </a:solidFill>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sz="1100" dirty="0">
                          <a:solidFill>
                            <a:schemeClr val="accent2"/>
                          </a:solidFill>
                          <a:latin typeface="Times New Roman" panose="02020603050405020304" pitchFamily="18" charset="0"/>
                          <a:cs typeface="Times New Roman" panose="02020603050405020304" pitchFamily="18" charset="0"/>
                        </a:rPr>
                        <a:t>(2022)</a:t>
                      </a:r>
                      <a:endParaRPr lang="en-US" sz="1100" dirty="0">
                        <a:solidFill>
                          <a:schemeClr val="accent2"/>
                        </a:solidFill>
                        <a:latin typeface="Times New Roman" panose="02020603050405020304" pitchFamily="18" charset="0"/>
                        <a:cs typeface="Times New Roman" panose="02020603050405020304" pitchFamily="18" charset="0"/>
                      </a:endParaRPr>
                    </a:p>
                  </a:txBody>
                  <a:tcPr anchor="ctr">
                    <a:lnL w="12700" cap="flat" cmpd="sng" algn="ctr">
                      <a:solidFill>
                        <a:srgbClr val="586847"/>
                      </a:solidFill>
                      <a:prstDash val="solid"/>
                      <a:round/>
                      <a:headEnd type="none" w="sm" len="sm"/>
                      <a:tailEnd type="none" w="sm" len="sm"/>
                    </a:lnL>
                    <a:lnR w="12700" cap="flat" cmpd="sng" algn="ctr">
                      <a:solidFill>
                        <a:srgbClr val="586847"/>
                      </a:solidFill>
                      <a:prstDash val="solid"/>
                      <a:round/>
                      <a:headEnd type="none" w="sm" len="sm"/>
                      <a:tailEnd type="none" w="sm" len="sm"/>
                    </a:lnR>
                    <a:lnT w="12700" cap="flat" cmpd="sng" algn="ctr">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algn="ctr" fontAlgn="base" latinLnBrk="0">
                        <a:buNone/>
                      </a:pPr>
                      <a:r>
                        <a:rPr lang="en-US" sz="1100" dirty="0">
                          <a:solidFill>
                            <a:schemeClr val="accent2"/>
                          </a:solidFill>
                          <a:latin typeface="Times New Roman" panose="02020603050405020304" pitchFamily="18" charset="0"/>
                          <a:cs typeface="Times New Roman" panose="02020603050405020304" pitchFamily="18" charset="0"/>
                        </a:rPr>
                        <a:t>Combined face, gaze, and voice analysis</a:t>
                      </a:r>
                      <a:endParaRPr lang="en-US" altLang="en-US" sz="1100" dirty="0">
                        <a:solidFill>
                          <a:schemeClr val="accent2"/>
                        </a:solidFill>
                        <a:effectLst/>
                        <a:latin typeface="Times New Roman" panose="02020603050405020304" pitchFamily="18" charset="0"/>
                        <a:cs typeface="Times New Roman" panose="02020603050405020304" pitchFamily="18" charset="0"/>
                      </a:endParaRPr>
                    </a:p>
                  </a:txBody>
                  <a:tcPr marL="60960" marR="60960" anchor="ctr">
                    <a:lnL w="12700" cap="flat" cmpd="sng" algn="ctr">
                      <a:solidFill>
                        <a:srgbClr val="586847"/>
                      </a:solidFill>
                      <a:prstDash val="solid"/>
                      <a:round/>
                      <a:headEnd type="none" w="sm" len="sm"/>
                      <a:tailEnd type="none" w="sm" len="sm"/>
                    </a:lnL>
                    <a:lnR w="12700" cap="flat" cmpd="sng" algn="ctr">
                      <a:solidFill>
                        <a:srgbClr val="586847"/>
                      </a:solidFill>
                      <a:prstDash val="solid"/>
                      <a:round/>
                      <a:headEnd type="none" w="sm" len="sm"/>
                      <a:tailEnd type="none" w="sm" len="sm"/>
                    </a:lnR>
                    <a:lnT w="12700" cap="flat" cmpd="sng" algn="ctr">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algn="ctr" fontAlgn="base" latinLnBrk="0">
                        <a:buNone/>
                      </a:pPr>
                      <a:r>
                        <a:rPr lang="en-US" sz="1100" dirty="0">
                          <a:solidFill>
                            <a:schemeClr val="accent2"/>
                          </a:solidFill>
                          <a:latin typeface="Times New Roman" panose="02020603050405020304" pitchFamily="18" charset="0"/>
                          <a:cs typeface="Times New Roman" panose="02020603050405020304" pitchFamily="18" charset="0"/>
                        </a:rPr>
                        <a:t>Multi-modal analysis increases detection accuracy and reliability</a:t>
                      </a:r>
                      <a:endParaRPr lang="en-US" altLang="en-US" sz="1100" dirty="0">
                        <a:solidFill>
                          <a:schemeClr val="accent2"/>
                        </a:solidFill>
                        <a:effectLst/>
                        <a:latin typeface="Times New Roman" panose="02020603050405020304" pitchFamily="18" charset="0"/>
                        <a:cs typeface="Times New Roman" panose="02020603050405020304" pitchFamily="18" charset="0"/>
                      </a:endParaRPr>
                    </a:p>
                  </a:txBody>
                  <a:tcPr marL="60960" marR="60960" anchor="ctr">
                    <a:lnL w="12700" cap="flat" cmpd="sng" algn="ctr">
                      <a:solidFill>
                        <a:srgbClr val="586847"/>
                      </a:solidFill>
                      <a:prstDash val="solid"/>
                      <a:round/>
                      <a:headEnd type="none" w="sm" len="sm"/>
                      <a:tailEnd type="none" w="sm" len="sm"/>
                    </a:lnL>
                    <a:lnR w="12700" cap="flat" cmpd="sng" algn="ctr">
                      <a:solidFill>
                        <a:srgbClr val="586847"/>
                      </a:solidFill>
                      <a:prstDash val="solid"/>
                      <a:round/>
                      <a:headEnd type="none" w="sm" len="sm"/>
                      <a:tailEnd type="none" w="sm" len="sm"/>
                    </a:lnR>
                    <a:lnT w="12700" cap="flat" cmpd="sng" algn="ctr">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c>
                  <a:txBody>
                    <a:bodyPr/>
                    <a:lstStyle/>
                    <a:p>
                      <a:pPr algn="ctr" fontAlgn="base" latinLnBrk="0">
                        <a:buNone/>
                      </a:pPr>
                      <a:r>
                        <a:rPr lang="en-US" sz="1100" dirty="0">
                          <a:solidFill>
                            <a:schemeClr val="accent2"/>
                          </a:solidFill>
                          <a:latin typeface="Times New Roman" panose="02020603050405020304" pitchFamily="18" charset="0"/>
                          <a:cs typeface="Times New Roman" panose="02020603050405020304" pitchFamily="18" charset="0"/>
                        </a:rPr>
                        <a:t>Complex implementation, requires high-quality webcam and mic </a:t>
                      </a:r>
                      <a:endParaRPr lang="en-US" altLang="en-US" sz="1100" dirty="0">
                        <a:solidFill>
                          <a:schemeClr val="accent2"/>
                        </a:solidFill>
                        <a:effectLst/>
                        <a:latin typeface="Times New Roman" panose="02020603050405020304" pitchFamily="18" charset="0"/>
                        <a:cs typeface="Times New Roman" panose="02020603050405020304" pitchFamily="18" charset="0"/>
                      </a:endParaRPr>
                    </a:p>
                  </a:txBody>
                  <a:tcPr marL="60960" marR="60960" anchor="ctr">
                    <a:lnL w="12700" cap="flat" cmpd="sng" algn="ctr">
                      <a:solidFill>
                        <a:srgbClr val="586847"/>
                      </a:solidFill>
                      <a:prstDash val="solid"/>
                      <a:round/>
                      <a:headEnd type="none" w="sm" len="sm"/>
                      <a:tailEnd type="none" w="sm" len="sm"/>
                    </a:lnL>
                    <a:lnR w="12700" cap="flat" cmpd="sng">
                      <a:solidFill>
                        <a:srgbClr val="586847"/>
                      </a:solidFill>
                      <a:prstDash val="solid"/>
                      <a:round/>
                      <a:headEnd type="none" w="sm" len="sm"/>
                      <a:tailEnd type="none" w="sm" len="sm"/>
                    </a:lnR>
                    <a:lnT w="12700" cap="flat" cmpd="sng">
                      <a:solidFill>
                        <a:srgbClr val="586847"/>
                      </a:solidFill>
                      <a:prstDash val="solid"/>
                      <a:round/>
                      <a:headEnd type="none" w="sm" len="sm"/>
                      <a:tailEnd type="none" w="sm" len="sm"/>
                    </a:lnT>
                    <a:lnB w="12700" cap="flat" cmpd="sng">
                      <a:solidFill>
                        <a:srgbClr val="586847"/>
                      </a:solidFill>
                      <a:prstDash val="solid"/>
                      <a:round/>
                      <a:headEnd type="none" w="sm" len="sm"/>
                      <a:tailEnd type="none" w="sm" len="sm"/>
                    </a:lnB>
                  </a:tcPr>
                </a:tc>
              </a:tr>
            </a:tbl>
          </a:graphicData>
        </a:graphic>
      </p:graphicFrame>
      <p:sp>
        <p:nvSpPr>
          <p:cNvPr id="3" name="Text Box 2"/>
          <p:cNvSpPr txBox="1"/>
          <p:nvPr/>
        </p:nvSpPr>
        <p:spPr>
          <a:xfrm>
            <a:off x="-686059" y="4683696"/>
            <a:ext cx="10516113" cy="337185"/>
          </a:xfrm>
          <a:prstGeom prst="rect">
            <a:avLst/>
          </a:prstGeom>
        </p:spPr>
        <p:txBody>
          <a:bodyPr wrap="square">
            <a:spAutoFit/>
          </a:bodyPr>
          <a:lstStyle/>
          <a:p>
            <a:pPr algn="ctr" fontAlgn="base">
              <a:spcBef>
                <a:spcPct val="0"/>
              </a:spcBef>
              <a:spcAft>
                <a:spcPct val="0"/>
              </a:spcAft>
            </a:pPr>
            <a:r>
              <a:rPr lang="en-US" altLang="zh-CN" sz="1600" dirty="0">
                <a:latin typeface="Times New Roman" panose="02020603050405020304" pitchFamily="18" charset="0"/>
                <a:ea typeface="Times New Roman" panose="02020603050405020304"/>
                <a:cs typeface="Times New Roman" panose="02020603050405020304" pitchFamily="18" charset="0"/>
              </a:rPr>
              <a:t>Team No: 15</a:t>
            </a:r>
            <a:r>
              <a:rPr lang="en-US" sz="1600" spc="-1" dirty="0">
                <a:latin typeface="Times New Roman" panose="02020603050405020304" pitchFamily="18" charset="0"/>
                <a:cs typeface="Times New Roman" panose="02020603050405020304" pitchFamily="18" charset="0"/>
              </a:rPr>
              <a:t>                                                                                                                                        6</a:t>
            </a:r>
            <a:r>
              <a:rPr lang="en-US" altLang="zh-CN" sz="1600" dirty="0">
                <a:latin typeface="Times New Roman" panose="02020603050405020304" pitchFamily="18" charset="0"/>
                <a:ea typeface="Times New Roman" panose="02020603050405020304"/>
                <a:cs typeface="Times New Roman" panose="02020603050405020304" pitchFamily="18" charset="0"/>
              </a:rPr>
              <a:t> </a:t>
            </a:r>
            <a:endParaRPr lang="en-US" altLang="zh-CN" sz="1600" dirty="0">
              <a:solidFill>
                <a:srgbClr val="FF0000"/>
              </a:solidFill>
              <a:latin typeface="Times New Roman" panose="02020603050405020304" pitchFamily="18" charset="0"/>
              <a:ea typeface="Times New Roman" panose="02020603050405020304"/>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201530" y="159525"/>
            <a:ext cx="1943899" cy="4835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0"/>
          <p:cNvSpPr txBox="1"/>
          <p:nvPr/>
        </p:nvSpPr>
        <p:spPr>
          <a:xfrm>
            <a:off x="2067137" y="495935"/>
            <a:ext cx="4902835" cy="576223"/>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chemeClr val="dk1"/>
              </a:buClr>
              <a:buSzPts val="5200"/>
              <a:buFont typeface="Noto Serif Ethiopic" panose="02020502060505020204"/>
              <a:buNone/>
            </a:pPr>
            <a:r>
              <a:rPr lang="en-US" sz="30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OBJECTIVES</a:t>
            </a:r>
            <a:endParaRPr lang="en-US" sz="30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endParaRPr>
          </a:p>
        </p:txBody>
      </p:sp>
      <p:sp>
        <p:nvSpPr>
          <p:cNvPr id="3" name="Text Box 2"/>
          <p:cNvSpPr txBox="1"/>
          <p:nvPr/>
        </p:nvSpPr>
        <p:spPr>
          <a:xfrm>
            <a:off x="462277" y="4647565"/>
            <a:ext cx="8413868" cy="337185"/>
          </a:xfrm>
          <a:prstGeom prst="rect">
            <a:avLst/>
          </a:prstGeom>
        </p:spPr>
        <p:txBody>
          <a:bodyPr wrap="square">
            <a:spAutoFit/>
          </a:bodyPr>
          <a:lstStyle/>
          <a:p>
            <a:pPr fontAlgn="base">
              <a:spcBef>
                <a:spcPct val="0"/>
              </a:spcBef>
              <a:spcAft>
                <a:spcPct val="0"/>
              </a:spcAft>
            </a:pPr>
            <a:r>
              <a:rPr lang="en-US" altLang="zh-CN" sz="1600" dirty="0">
                <a:latin typeface="Times New Roman" panose="02020603050405020304" pitchFamily="18" charset="0"/>
                <a:ea typeface="Times New Roman" panose="02020603050405020304"/>
                <a:cs typeface="Times New Roman" panose="02020603050405020304" pitchFamily="18" charset="0"/>
              </a:rPr>
              <a:t>Team</a:t>
            </a:r>
            <a:r>
              <a:rPr lang="en-US" altLang="zh-CN" sz="1600" b="0" i="0" dirty="0">
                <a:solidFill>
                  <a:srgbClr val="000000"/>
                </a:solidFill>
                <a:latin typeface="Times New Roman" panose="02020603050405020304" pitchFamily="18" charset="0"/>
                <a:ea typeface="Times New Roman" panose="02020603050405020304"/>
                <a:cs typeface="Times New Roman" panose="02020603050405020304" pitchFamily="18" charset="0"/>
              </a:rPr>
              <a:t> No: 15</a:t>
            </a:r>
            <a:r>
              <a:rPr lang="en-US" sz="1600" spc="-1" dirty="0">
                <a:latin typeface="Times New Roman" panose="02020603050405020304" pitchFamily="18" charset="0"/>
                <a:cs typeface="Times New Roman" panose="02020603050405020304" pitchFamily="18" charset="0"/>
              </a:rPr>
              <a:t>                                                                                                                                         7</a:t>
            </a:r>
            <a:r>
              <a:rPr lang="en-US" altLang="zh-CN" sz="1600" b="0" i="0" dirty="0">
                <a:solidFill>
                  <a:srgbClr val="000000"/>
                </a:solidFill>
                <a:latin typeface="Times New Roman" panose="02020603050405020304" pitchFamily="18" charset="0"/>
                <a:ea typeface="Times New Roman" panose="02020603050405020304"/>
                <a:cs typeface="Times New Roman" panose="02020603050405020304" pitchFamily="18" charset="0"/>
              </a:rPr>
              <a:t> </a:t>
            </a:r>
            <a:endParaRPr lang="en-US" altLang="zh-CN" sz="1600" b="0" i="0" dirty="0">
              <a:solidFill>
                <a:srgbClr val="FF0000"/>
              </a:solidFill>
              <a:latin typeface="Times New Roman" panose="02020603050405020304" pitchFamily="18" charset="0"/>
              <a:ea typeface="Times New Roman" panose="02020603050405020304"/>
              <a:cs typeface="Times New Roman" panose="02020603050405020304" pitchFamily="18" charset="0"/>
            </a:endParaRPr>
          </a:p>
        </p:txBody>
      </p:sp>
      <p:sp>
        <p:nvSpPr>
          <p:cNvPr id="4" name="Rectangle 3"/>
          <p:cNvSpPr/>
          <p:nvPr/>
        </p:nvSpPr>
        <p:spPr>
          <a:xfrm>
            <a:off x="755297" y="977388"/>
            <a:ext cx="7526514" cy="3969385"/>
          </a:xfrm>
          <a:prstGeom prst="rect">
            <a:avLst/>
          </a:prstGeom>
        </p:spPr>
        <p:txBody>
          <a:bodyPr wrap="square">
            <a:spAutoFit/>
          </a:bodyPr>
          <a:lstStyle/>
          <a:p>
            <a:pPr marL="342900" indent="-342900">
              <a:lnSpc>
                <a:spcPct val="150000"/>
              </a:lnSpc>
              <a:buFont typeface="+mj-lt"/>
              <a:buAutoNum type="arabicPeriod"/>
            </a:pPr>
            <a:r>
              <a:rPr lang="en-US" dirty="0">
                <a:latin typeface="Times New Roman" panose="02020603050405020304" pitchFamily="18" charset="0"/>
                <a:cs typeface="Times New Roman" panose="02020603050405020304" pitchFamily="18" charset="0"/>
              </a:rPr>
              <a:t>To create and implement an intelligent AI-based proctoring system that enables secure, efficient, and fair online examination monitoring. </a:t>
            </a:r>
            <a:endParaRPr lang="en-US" dirty="0">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a:pPr>
            <a:r>
              <a:rPr lang="en-US" dirty="0">
                <a:latin typeface="Times New Roman" panose="02020603050405020304" pitchFamily="18" charset="0"/>
                <a:cs typeface="Times New Roman" panose="02020603050405020304" pitchFamily="18" charset="0"/>
              </a:rPr>
              <a:t>To use advanced artificial intelligence and computer vision techniques to capture, process, and analyze real-time video and audio data of students during examinations. </a:t>
            </a:r>
            <a:endParaRPr lang="en-US" dirty="0">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a:pPr>
            <a:r>
              <a:rPr lang="en-US" dirty="0">
                <a:latin typeface="Times New Roman" panose="02020603050405020304" pitchFamily="18" charset="0"/>
                <a:cs typeface="Times New Roman" panose="02020603050405020304" pitchFamily="18" charset="0"/>
              </a:rPr>
              <a:t>To develop models that can detect suspicious behaviors such as multiple faces, unusual head movements, eye gaze deviation, and the presence of unauthorized objects like mobile phones or books. </a:t>
            </a:r>
            <a:endParaRPr lang="en-US" dirty="0">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a:pPr>
            <a:r>
              <a:rPr lang="en-US" dirty="0">
                <a:latin typeface="Times New Roman" panose="02020603050405020304" pitchFamily="18" charset="0"/>
                <a:cs typeface="Times New Roman" panose="02020603050405020304" pitchFamily="18" charset="0"/>
              </a:rPr>
              <a:t>To generate real-time alerts and detailed analytical reports that help in identifying malpractice and ensuring exam integrity. </a:t>
            </a:r>
            <a:endParaRPr lang="en-US" dirty="0">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a:pPr>
            <a:r>
              <a:rPr lang="en-US" dirty="0">
                <a:latin typeface="Times New Roman" panose="02020603050405020304" pitchFamily="18" charset="0"/>
                <a:cs typeface="Times New Roman" panose="02020603050405020304" pitchFamily="18" charset="0"/>
              </a:rPr>
              <a:t>To improve the overall effectiveness of online examination systems by reducing human effort, minimizing cheating, and enhancing scalability for large numbers of students. </a:t>
            </a:r>
            <a:endParaRPr lang="en-US" dirty="0">
              <a:latin typeface="Times New Roman" panose="02020603050405020304" pitchFamily="18" charset="0"/>
              <a:cs typeface="Times New Roman" panose="02020603050405020304" pitchFamily="18" charset="0"/>
            </a:endParaRPr>
          </a:p>
          <a:p>
            <a:pPr marL="342900" indent="-342900" algn="just" fontAlgn="base">
              <a:lnSpc>
                <a:spcPct val="150000"/>
              </a:lnSpc>
              <a:spcBef>
                <a:spcPct val="0"/>
              </a:spcBef>
              <a:spcAft>
                <a:spcPct val="0"/>
              </a:spcAft>
              <a:buAutoNum type="arabicPeriod"/>
            </a:pPr>
            <a:endParaRPr lang="en-US" altLang="en-US" dirty="0">
              <a:solidFill>
                <a:schemeClr val="accent2"/>
              </a:solidFill>
              <a:latin typeface="Times New Roman" panose="02020603050405020304" pitchFamily="18" charset="0"/>
              <a:ea typeface="Times New Roman" panose="02020603050405020304"/>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305608" y="234458"/>
            <a:ext cx="1943899" cy="4835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2" name="Google Shape;70;p9"/>
          <p:cNvSpPr txBox="1"/>
          <p:nvPr/>
        </p:nvSpPr>
        <p:spPr>
          <a:xfrm>
            <a:off x="1695687" y="253224"/>
            <a:ext cx="5366052" cy="682750"/>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chemeClr val="dk1"/>
              </a:buClr>
              <a:buSzPts val="5200"/>
              <a:buFont typeface="Noto Serif Ethiopic" panose="02020502060505020204"/>
              <a:buNone/>
            </a:pPr>
            <a:r>
              <a:rPr lang="en-US" sz="30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EXISTING SYSTEM</a:t>
            </a:r>
            <a:endParaRPr sz="30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endParaRPr>
          </a:p>
        </p:txBody>
      </p:sp>
      <p:sp>
        <p:nvSpPr>
          <p:cNvPr id="4" name="Text Box 3"/>
          <p:cNvSpPr txBox="1"/>
          <p:nvPr/>
        </p:nvSpPr>
        <p:spPr>
          <a:xfrm>
            <a:off x="462280" y="4662488"/>
            <a:ext cx="8599944" cy="584775"/>
          </a:xfrm>
          <a:prstGeom prst="rect">
            <a:avLst/>
          </a:prstGeom>
        </p:spPr>
        <p:txBody>
          <a:bodyPr wrap="square">
            <a:spAutoFit/>
          </a:bodyPr>
          <a:lstStyle/>
          <a:p>
            <a:pPr fontAlgn="base">
              <a:spcBef>
                <a:spcPct val="0"/>
              </a:spcBef>
              <a:spcAft>
                <a:spcPct val="0"/>
              </a:spcAft>
            </a:pPr>
            <a:r>
              <a:rPr lang="en-US" altLang="zh-CN" sz="1600" dirty="0">
                <a:latin typeface="Times New Roman" panose="02020603050405020304" pitchFamily="18" charset="0"/>
                <a:ea typeface="Times New Roman" panose="02020603050405020304"/>
                <a:cs typeface="Times New Roman" panose="02020603050405020304" pitchFamily="18" charset="0"/>
              </a:rPr>
              <a:t>Team No: 15</a:t>
            </a:r>
            <a:r>
              <a:rPr lang="en-US" sz="1600" spc="-1" dirty="0">
                <a:latin typeface="Times New Roman" panose="02020603050405020304" pitchFamily="18" charset="0"/>
                <a:cs typeface="Times New Roman" panose="02020603050405020304" pitchFamily="18" charset="0"/>
              </a:rPr>
              <a:t>                                                                                                                                        8</a:t>
            </a:r>
            <a:endParaRPr lang="en-IN" sz="1600" spc="-1" dirty="0">
              <a:latin typeface="Times New Roman" panose="02020603050405020304" pitchFamily="18" charset="0"/>
              <a:cs typeface="Times New Roman" panose="02020603050405020304" pitchFamily="18" charset="0"/>
            </a:endParaRPr>
          </a:p>
          <a:p>
            <a:pPr fontAlgn="base">
              <a:spcBef>
                <a:spcPct val="0"/>
              </a:spcBef>
              <a:spcAft>
                <a:spcPct val="0"/>
              </a:spcAft>
            </a:pPr>
            <a:r>
              <a:rPr lang="en-US" altLang="zh-CN" sz="1600" dirty="0">
                <a:latin typeface="Times New Roman" panose="02020603050405020304" pitchFamily="18" charset="0"/>
                <a:ea typeface="Times New Roman" panose="02020603050405020304"/>
                <a:cs typeface="Times New Roman" panose="02020603050405020304" pitchFamily="18" charset="0"/>
              </a:rPr>
              <a:t> </a:t>
            </a:r>
            <a:endParaRPr lang="en-US" altLang="zh-CN" sz="1600" dirty="0">
              <a:solidFill>
                <a:srgbClr val="FF0000"/>
              </a:solidFill>
              <a:latin typeface="Times New Roman" panose="02020603050405020304" pitchFamily="18" charset="0"/>
              <a:ea typeface="Times New Roman" panose="02020603050405020304"/>
              <a:cs typeface="Times New Roman" panose="02020603050405020304" pitchFamily="18" charset="0"/>
            </a:endParaRPr>
          </a:p>
        </p:txBody>
      </p:sp>
      <p:sp>
        <p:nvSpPr>
          <p:cNvPr id="6" name="TextBox 5"/>
          <p:cNvSpPr txBox="1"/>
          <p:nvPr/>
        </p:nvSpPr>
        <p:spPr>
          <a:xfrm>
            <a:off x="710022" y="935974"/>
            <a:ext cx="7723955" cy="3931654"/>
          </a:xfrm>
          <a:prstGeom prst="rect">
            <a:avLst/>
          </a:prstGeom>
          <a:noFill/>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1. Manual Invigilation System :</a:t>
            </a:r>
            <a:r>
              <a:rPr lang="en-US" dirty="0">
                <a:latin typeface="Times New Roman" panose="02020603050405020304" pitchFamily="18" charset="0"/>
                <a:cs typeface="Times New Roman" panose="02020603050405020304" pitchFamily="18" charset="0"/>
              </a:rPr>
              <a:t>The manual invigilation system is the traditional method used in offline examinations where human invigilators monitor students in examination halls. Invigilators observe candidates, ensure rules are followed, and identify suspicious behavior during the exam. This system depends entirely on human judgment and physical presence, making it effective in controlled environments but limited by factors such as human error, fatigue, and difficulty in managing large-scale examinations.</a:t>
            </a:r>
            <a:endParaRPr lang="en-US"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2. Basic Online Examination System :</a:t>
            </a:r>
            <a:r>
              <a:rPr lang="en-US" dirty="0">
                <a:latin typeface="Times New Roman" panose="02020603050405020304" pitchFamily="18" charset="0"/>
                <a:cs typeface="Times New Roman" panose="02020603050405020304" pitchFamily="18" charset="0"/>
              </a:rPr>
              <a:t>Basic online examination systems are used to conduct exams through digital platforms where students can log in, attend tests, and submit answers remotely. These systems provide convenience and accessibility but lack proper monitoring mechanisms. As a result, students can easily engage in unfair practices like using external resources or switching tabs, making the system less secure and unreliable.</a:t>
            </a:r>
            <a:endParaRPr lang="en-US" dirty="0">
              <a:latin typeface="Times New Roman" panose="02020603050405020304" pitchFamily="18" charset="0"/>
              <a:cs typeface="Times New Roman" panose="02020603050405020304" pitchFamily="18" charset="0"/>
            </a:endParaRPr>
          </a:p>
          <a:p>
            <a:pPr marL="228600" indent="-228600" algn="just">
              <a:lnSpc>
                <a:spcPct val="150000"/>
              </a:lnSpc>
              <a:buFont typeface="+mj-lt"/>
              <a:buAutoNum type="arabicPeriod"/>
            </a:pPr>
            <a:endParaRPr lang="en-US" altLang="en-US"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305608" y="234458"/>
            <a:ext cx="1943899" cy="4835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2" name="Google Shape;70;p9"/>
          <p:cNvSpPr txBox="1"/>
          <p:nvPr/>
        </p:nvSpPr>
        <p:spPr>
          <a:xfrm>
            <a:off x="1310661" y="216445"/>
            <a:ext cx="7463883" cy="644035"/>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chemeClr val="dk1"/>
              </a:buClr>
              <a:buSzPts val="5200"/>
              <a:buFont typeface="Noto Serif Ethiopic" panose="02020502060505020204"/>
              <a:buNone/>
            </a:pPr>
            <a:endParaRPr lang="en-US" sz="28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endParaRPr>
          </a:p>
          <a:p>
            <a:pPr marL="0" marR="0" lvl="0" indent="0" algn="ctr" rtl="0">
              <a:lnSpc>
                <a:spcPct val="90000"/>
              </a:lnSpc>
              <a:spcBef>
                <a:spcPts val="0"/>
              </a:spcBef>
              <a:spcAft>
                <a:spcPts val="0"/>
              </a:spcAft>
              <a:buClr>
                <a:schemeClr val="dk1"/>
              </a:buClr>
              <a:buSzPts val="5200"/>
              <a:buFont typeface="Noto Serif Ethiopic" panose="02020502060505020204"/>
              <a:buNone/>
            </a:pPr>
            <a:endParaRPr lang="en-US" sz="2800"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endParaRPr>
          </a:p>
          <a:p>
            <a:pPr marL="0" marR="0" lvl="0" indent="0" algn="ctr" rtl="0">
              <a:lnSpc>
                <a:spcPct val="90000"/>
              </a:lnSpc>
              <a:spcBef>
                <a:spcPts val="0"/>
              </a:spcBef>
              <a:spcAft>
                <a:spcPts val="0"/>
              </a:spcAft>
              <a:buClr>
                <a:schemeClr val="dk1"/>
              </a:buClr>
              <a:buSzPts val="5200"/>
              <a:buFont typeface="Noto Serif Ethiopic" panose="02020502060505020204"/>
              <a:buNone/>
            </a:pPr>
            <a:endParaRPr lang="en-US" sz="28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endParaRPr>
          </a:p>
          <a:p>
            <a:pPr marL="0" marR="0" lvl="0" indent="0" algn="ctr" rtl="0">
              <a:lnSpc>
                <a:spcPct val="90000"/>
              </a:lnSpc>
              <a:spcBef>
                <a:spcPts val="0"/>
              </a:spcBef>
              <a:spcAft>
                <a:spcPts val="0"/>
              </a:spcAft>
              <a:buClr>
                <a:schemeClr val="dk1"/>
              </a:buClr>
              <a:buSzPts val="5200"/>
              <a:buFont typeface="Noto Serif Ethiopic" panose="02020502060505020204"/>
              <a:buNone/>
            </a:pPr>
            <a:r>
              <a:rPr lang="en-US" sz="28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DISADVANTAGES OF EXISTING SYSTEM</a:t>
            </a:r>
            <a:endParaRPr lang="en-US" sz="28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endParaRPr>
          </a:p>
        </p:txBody>
      </p:sp>
      <p:sp>
        <p:nvSpPr>
          <p:cNvPr id="4" name="Text Box 3"/>
          <p:cNvSpPr txBox="1"/>
          <p:nvPr/>
        </p:nvSpPr>
        <p:spPr>
          <a:xfrm>
            <a:off x="462279" y="4662488"/>
            <a:ext cx="8312265" cy="583565"/>
          </a:xfrm>
          <a:prstGeom prst="rect">
            <a:avLst/>
          </a:prstGeom>
        </p:spPr>
        <p:txBody>
          <a:bodyPr wrap="square">
            <a:spAutoFit/>
          </a:bodyPr>
          <a:lstStyle/>
          <a:p>
            <a:pPr fontAlgn="base">
              <a:spcBef>
                <a:spcPct val="0"/>
              </a:spcBef>
              <a:spcAft>
                <a:spcPct val="0"/>
              </a:spcAft>
            </a:pPr>
            <a:r>
              <a:rPr lang="en-US" altLang="zh-CN" sz="1600" dirty="0">
                <a:latin typeface="Times New Roman" panose="02020603050405020304" pitchFamily="18" charset="0"/>
                <a:ea typeface="Times New Roman" panose="02020603050405020304"/>
                <a:cs typeface="Times New Roman" panose="02020603050405020304" pitchFamily="18" charset="0"/>
              </a:rPr>
              <a:t>Team No:15</a:t>
            </a:r>
            <a:r>
              <a:rPr lang="en-US" sz="1600" spc="-1" dirty="0">
                <a:latin typeface="Times New Roman" panose="02020603050405020304" pitchFamily="18" charset="0"/>
                <a:cs typeface="Times New Roman" panose="02020603050405020304" pitchFamily="18" charset="0"/>
              </a:rPr>
              <a:t>                                                                                                                                        9</a:t>
            </a:r>
            <a:endParaRPr lang="en-IN" sz="1600" spc="-1" dirty="0">
              <a:latin typeface="Times New Roman" panose="02020603050405020304" pitchFamily="18" charset="0"/>
              <a:cs typeface="Times New Roman" panose="02020603050405020304" pitchFamily="18" charset="0"/>
            </a:endParaRPr>
          </a:p>
          <a:p>
            <a:pPr fontAlgn="base">
              <a:spcBef>
                <a:spcPct val="0"/>
              </a:spcBef>
              <a:spcAft>
                <a:spcPct val="0"/>
              </a:spcAft>
            </a:pPr>
            <a:r>
              <a:rPr lang="en-US" altLang="zh-CN" sz="1600" dirty="0">
                <a:latin typeface="Times New Roman" panose="02020603050405020304" pitchFamily="18" charset="0"/>
                <a:ea typeface="Times New Roman" panose="02020603050405020304"/>
                <a:cs typeface="Times New Roman" panose="02020603050405020304" pitchFamily="18" charset="0"/>
              </a:rPr>
              <a:t> </a:t>
            </a:r>
            <a:endParaRPr lang="en-US" altLang="zh-CN" sz="1600" dirty="0">
              <a:solidFill>
                <a:srgbClr val="FF0000"/>
              </a:solidFill>
              <a:latin typeface="Times New Roman" panose="02020603050405020304" pitchFamily="18" charset="0"/>
              <a:ea typeface="Times New Roman" panose="02020603050405020304"/>
              <a:cs typeface="Times New Roman" panose="02020603050405020304" pitchFamily="18" charset="0"/>
            </a:endParaRPr>
          </a:p>
        </p:txBody>
      </p:sp>
      <p:sp>
        <p:nvSpPr>
          <p:cNvPr id="6" name="TextBox 5"/>
          <p:cNvSpPr txBox="1"/>
          <p:nvPr/>
        </p:nvSpPr>
        <p:spPr>
          <a:xfrm>
            <a:off x="888160" y="1137049"/>
            <a:ext cx="7530791" cy="3790006"/>
          </a:xfrm>
          <a:prstGeom prst="rect">
            <a:avLst/>
          </a:prstGeom>
          <a:noFill/>
        </p:spPr>
        <p:txBody>
          <a:bodyPr wrap="square">
            <a:noAutofit/>
          </a:bodyPr>
          <a:lstStyle/>
          <a:p>
            <a:pPr marL="342900" indent="-342900" algn="just">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Lack of Proper Monitoring : </a:t>
            </a:r>
            <a:r>
              <a:rPr lang="en-US" dirty="0">
                <a:latin typeface="Times New Roman" panose="02020603050405020304" pitchFamily="18" charset="0"/>
                <a:cs typeface="Times New Roman" panose="02020603050405020304" pitchFamily="18" charset="0"/>
              </a:rPr>
              <a:t>Basic systems do not provide continuous monitoring of students during exams. This makes it difficult to track real-time behavior and activities.</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High Chances of Cheating : </a:t>
            </a:r>
            <a:r>
              <a:rPr lang="en-US" dirty="0">
                <a:latin typeface="Times New Roman" panose="02020603050405020304" pitchFamily="18" charset="0"/>
                <a:cs typeface="Times New Roman" panose="02020603050405020304" pitchFamily="18" charset="0"/>
              </a:rPr>
              <a:t>Students can easily use mobile phones, books, or take external help. There are no strong mechanisms to prevent unfair practices.</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Human Errors in Manual Invigilation : </a:t>
            </a:r>
            <a:r>
              <a:rPr lang="en-US" dirty="0">
                <a:latin typeface="Times New Roman" panose="02020603050405020304" pitchFamily="18" charset="0"/>
                <a:cs typeface="Times New Roman" panose="02020603050405020304" pitchFamily="18" charset="0"/>
              </a:rPr>
              <a:t>Invigilators may miss suspicious activities due to fatigue or distraction. This reduces the accuracy and reliability of monitoring.</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Not Scalable for Large Exams : </a:t>
            </a:r>
            <a:r>
              <a:rPr lang="en-US" dirty="0">
                <a:latin typeface="Times New Roman" panose="02020603050405020304" pitchFamily="18" charset="0"/>
                <a:cs typeface="Times New Roman" panose="02020603050405020304" pitchFamily="18" charset="0"/>
              </a:rPr>
              <a:t>It is difficult to manage a large number of students at the same time. More invigilators are required, increasing complexity.</a:t>
            </a:r>
            <a:endParaRPr lang="en-US"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r>
              <a:rPr lang="en-US" b="1" dirty="0">
                <a:latin typeface="Times New Roman" panose="02020603050405020304" pitchFamily="18" charset="0"/>
                <a:cs typeface="Times New Roman" panose="02020603050405020304" pitchFamily="18" charset="0"/>
              </a:rPr>
              <a:t>Time-Consuming and Costly : </a:t>
            </a:r>
            <a:r>
              <a:rPr lang="en-US" dirty="0">
                <a:latin typeface="Times New Roman" panose="02020603050405020304" pitchFamily="18" charset="0"/>
                <a:cs typeface="Times New Roman" panose="02020603050405020304" pitchFamily="18" charset="0"/>
              </a:rPr>
              <a:t>Manual supervision requires more time and human resources. This increases the overall cost of conducting exams.</a:t>
            </a:r>
            <a:endParaRPr lang="en-US" dirty="0">
              <a:latin typeface="Times New Roman" panose="02020603050405020304" pitchFamily="18" charset="0"/>
              <a:cs typeface="Times New Roman" panose="02020603050405020304" pitchFamily="18" charset="0"/>
            </a:endParaRPr>
          </a:p>
          <a:p>
            <a:pPr marL="0" indent="0" algn="just">
              <a:lnSpc>
                <a:spcPct val="150000"/>
              </a:lnSpc>
              <a:buFont typeface="+mj-lt"/>
              <a:buNone/>
            </a:pPr>
            <a:endParaRPr lang="en-US" altLang="en-US"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179228" y="175130"/>
            <a:ext cx="1417865" cy="35269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80" name="Google Shape;80;p10"/>
          <p:cNvSpPr txBox="1"/>
          <p:nvPr/>
        </p:nvSpPr>
        <p:spPr>
          <a:xfrm>
            <a:off x="926646" y="1215329"/>
            <a:ext cx="7143749" cy="520700"/>
          </a:xfrm>
          <a:prstGeom prst="rect">
            <a:avLst/>
          </a:prstGeom>
          <a:noFill/>
          <a:ln>
            <a:noFill/>
          </a:ln>
        </p:spPr>
        <p:txBody>
          <a:bodyPr spcFirstLastPara="1" wrap="square" lIns="91425" tIns="45700" rIns="91425" bIns="45700" anchor="t" anchorCtr="0">
            <a:spAutoFit/>
          </a:bodyPr>
          <a:lstStyle/>
          <a:p>
            <a:pPr algn="just">
              <a:lnSpc>
                <a:spcPct val="200000"/>
              </a:lnSpc>
            </a:pPr>
            <a:endParaRPr dirty="0">
              <a:latin typeface="Times New Roman" panose="02020603050405020304" pitchFamily="18" charset="0"/>
              <a:cs typeface="Times New Roman" panose="02020603050405020304" pitchFamily="18" charset="0"/>
            </a:endParaRPr>
          </a:p>
        </p:txBody>
      </p:sp>
      <p:sp>
        <p:nvSpPr>
          <p:cNvPr id="2" name="Google Shape;70;p9"/>
          <p:cNvSpPr txBox="1"/>
          <p:nvPr/>
        </p:nvSpPr>
        <p:spPr>
          <a:xfrm>
            <a:off x="2022789" y="215075"/>
            <a:ext cx="5366052" cy="671804"/>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chemeClr val="dk1"/>
              </a:buClr>
              <a:buSzPts val="5200"/>
              <a:buFont typeface="Noto Serif Ethiopic" panose="02020502060505020204"/>
              <a:buNone/>
            </a:pPr>
            <a:r>
              <a:rPr lang="en-US" sz="3000"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PROPOSED SYSTEM</a:t>
            </a:r>
            <a:endParaRPr sz="30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endParaRPr>
          </a:p>
        </p:txBody>
      </p:sp>
      <p:sp>
        <p:nvSpPr>
          <p:cNvPr id="4" name="Text Box 3"/>
          <p:cNvSpPr txBox="1"/>
          <p:nvPr/>
        </p:nvSpPr>
        <p:spPr>
          <a:xfrm>
            <a:off x="462279" y="4662488"/>
            <a:ext cx="8598594" cy="337185"/>
          </a:xfrm>
          <a:prstGeom prst="rect">
            <a:avLst/>
          </a:prstGeom>
        </p:spPr>
        <p:txBody>
          <a:bodyPr wrap="square">
            <a:spAutoFit/>
          </a:bodyPr>
          <a:lstStyle/>
          <a:p>
            <a:pPr fontAlgn="base">
              <a:spcBef>
                <a:spcPct val="0"/>
              </a:spcBef>
              <a:spcAft>
                <a:spcPct val="0"/>
              </a:spcAft>
            </a:pPr>
            <a:r>
              <a:rPr lang="en-US" altLang="zh-CN" sz="1600" dirty="0">
                <a:latin typeface="Times New Roman" panose="02020603050405020304" pitchFamily="18" charset="0"/>
                <a:ea typeface="Times New Roman" panose="02020603050405020304"/>
                <a:cs typeface="Times New Roman" panose="02020603050405020304" pitchFamily="18" charset="0"/>
              </a:rPr>
              <a:t>Team No:</a:t>
            </a:r>
            <a:r>
              <a:rPr lang="en-US" sz="1600" spc="-1" dirty="0">
                <a:latin typeface="Times New Roman" panose="02020603050405020304" pitchFamily="18" charset="0"/>
                <a:cs typeface="Times New Roman" panose="02020603050405020304" pitchFamily="18" charset="0"/>
              </a:rPr>
              <a:t> 15                                                                                                                                         10</a:t>
            </a:r>
            <a:endParaRPr lang="en-IN" sz="1600" spc="-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794370" y="1090671"/>
            <a:ext cx="7555260" cy="3322955"/>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The proposed system is an AI-based proctoring system designed to monitor students during online examinations using advanced technologies like artificial intelligence and computer vision. It captures real-time video and audio data through the student’s webcam and microphone for continuous monitoring. The system analyzes facial expressions, eye movements, and head position to track student behavior. It also detects suspicious activities such as multiple faces, looking away, or the use of unauthorized objects like mobile phones or books. When such activities are identified, the system generates instant alerts. All activities are recorded and stored for further analysis. After the exam, a detailed report along with a trust score is generated for each student. This helps administrators evaluate exam integrity effectively. Overall, the system ensures a secure, fair, and reliable online examination environment.</a:t>
            </a:r>
            <a:endParaRPr lang="en-US" altLang="en-US"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305608" y="234458"/>
            <a:ext cx="1943899" cy="4835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2" name="Google Shape;70;p9"/>
          <p:cNvSpPr txBox="1"/>
          <p:nvPr/>
        </p:nvSpPr>
        <p:spPr>
          <a:xfrm>
            <a:off x="1527666" y="158994"/>
            <a:ext cx="7362764" cy="644035"/>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chemeClr val="dk1"/>
              </a:buClr>
              <a:buSzPts val="5200"/>
              <a:buFont typeface="Noto Serif Ethiopic" panose="02020502060505020204"/>
              <a:buNone/>
            </a:pPr>
            <a:endParaRPr lang="en-US" sz="28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endParaRPr>
          </a:p>
          <a:p>
            <a:pPr marL="0" marR="0" lvl="0" indent="0" algn="ctr" rtl="0">
              <a:lnSpc>
                <a:spcPct val="90000"/>
              </a:lnSpc>
              <a:spcBef>
                <a:spcPts val="0"/>
              </a:spcBef>
              <a:spcAft>
                <a:spcPts val="0"/>
              </a:spcAft>
              <a:buClr>
                <a:schemeClr val="dk1"/>
              </a:buClr>
              <a:buSzPts val="5200"/>
              <a:buFont typeface="Noto Serif Ethiopic" panose="02020502060505020204"/>
              <a:buNone/>
            </a:pPr>
            <a:r>
              <a:rPr lang="en-US" sz="28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ADVANTAGES OF </a:t>
            </a:r>
            <a:r>
              <a:rPr lang="en-US" sz="2800"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PROPOSED</a:t>
            </a:r>
            <a:r>
              <a:rPr lang="en-US" sz="28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 SYSTEM</a:t>
            </a:r>
            <a:endParaRPr lang="en-US" sz="28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endParaRPr>
          </a:p>
        </p:txBody>
      </p:sp>
      <p:sp>
        <p:nvSpPr>
          <p:cNvPr id="4" name="Text Box 3"/>
          <p:cNvSpPr txBox="1"/>
          <p:nvPr/>
        </p:nvSpPr>
        <p:spPr>
          <a:xfrm>
            <a:off x="462279" y="4662488"/>
            <a:ext cx="8312265" cy="338554"/>
          </a:xfrm>
          <a:prstGeom prst="rect">
            <a:avLst/>
          </a:prstGeom>
        </p:spPr>
        <p:txBody>
          <a:bodyPr wrap="square">
            <a:spAutoFit/>
          </a:bodyPr>
          <a:lstStyle/>
          <a:p>
            <a:pPr fontAlgn="base">
              <a:spcBef>
                <a:spcPct val="0"/>
              </a:spcBef>
              <a:spcAft>
                <a:spcPct val="0"/>
              </a:spcAft>
            </a:pPr>
            <a:r>
              <a:rPr lang="en-US" altLang="zh-CN" sz="1600" dirty="0">
                <a:latin typeface="Times New Roman" panose="02020603050405020304" pitchFamily="18" charset="0"/>
                <a:ea typeface="Times New Roman" panose="02020603050405020304"/>
                <a:cs typeface="Times New Roman" panose="02020603050405020304" pitchFamily="18" charset="0"/>
              </a:rPr>
              <a:t>Team No: 15</a:t>
            </a:r>
            <a:r>
              <a:rPr lang="en-US" sz="1600" spc="-1" dirty="0">
                <a:latin typeface="Times New Roman" panose="02020603050405020304" pitchFamily="18" charset="0"/>
                <a:cs typeface="Times New Roman" panose="02020603050405020304" pitchFamily="18" charset="0"/>
              </a:rPr>
              <a:t>                                                                                                                                     11</a:t>
            </a:r>
            <a:endParaRPr lang="en-IN" sz="1600" spc="-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853015" y="803028"/>
            <a:ext cx="7530791" cy="3656227"/>
          </a:xfrm>
          <a:prstGeom prst="rect">
            <a:avLst/>
          </a:prstGeom>
          <a:noFill/>
        </p:spPr>
        <p:txBody>
          <a:bodyPr wrap="square">
            <a:noAutofit/>
          </a:bodyPr>
          <a:lstStyle/>
          <a:p>
            <a:pPr marL="0" indent="0">
              <a:lnSpc>
                <a:spcPct val="150000"/>
              </a:lnSpc>
              <a:buFont typeface="+mj-lt"/>
              <a:buNone/>
            </a:pPr>
            <a:endParaRPr lang="en-US" altLang="en-US"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253570" y="219054"/>
            <a:ext cx="1530626" cy="380743"/>
          </a:xfrm>
          <a:prstGeom prst="rect">
            <a:avLst/>
          </a:prstGeom>
        </p:spPr>
      </p:pic>
      <p:sp>
        <p:nvSpPr>
          <p:cNvPr id="9" name="Rectangle 4"/>
          <p:cNvSpPr>
            <a:spLocks noChangeArrowheads="1"/>
          </p:cNvSpPr>
          <p:nvPr/>
        </p:nvSpPr>
        <p:spPr bwMode="auto">
          <a:xfrm>
            <a:off x="760194" y="748665"/>
            <a:ext cx="7777595" cy="3646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50000"/>
              </a:lnSpc>
              <a:spcBef>
                <a:spcPct val="0"/>
              </a:spcBef>
              <a:spcAft>
                <a:spcPct val="0"/>
              </a:spcAft>
              <a:buClrTx/>
              <a:buSzTx/>
              <a:buFontTx/>
              <a:buNone/>
            </a:pPr>
            <a:endParaRPr kumimoji="0" lang="en-US" altLang="en-US" b="0" i="0" u="none" strike="noStrike" cap="none" normalizeH="0" baseline="0" dirty="0">
              <a:ln>
                <a:noFill/>
              </a:ln>
              <a:solidFill>
                <a:schemeClr val="accent2"/>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pPr>
            <a:r>
              <a:rPr kumimoji="0" lang="en-US" altLang="en-US" b="0" i="0" u="none" strike="noStrike" cap="none" normalizeH="0" baseline="0" dirty="0">
                <a:ln>
                  <a:noFill/>
                </a:ln>
                <a:solidFill>
                  <a:schemeClr val="accent2"/>
                </a:solidFill>
                <a:effectLst/>
                <a:latin typeface="Times New Roman" panose="02020603050405020304" pitchFamily="18" charset="0"/>
                <a:cs typeface="Times New Roman" panose="02020603050405020304" pitchFamily="18" charset="0"/>
              </a:rPr>
              <a:t>The proposed system provides real-time monitoring of students during online examinations, ensuring continuous observation and immediate detection of suspicious activities. </a:t>
            </a:r>
            <a:endParaRPr kumimoji="0" lang="en-US" altLang="en-US" b="0" i="0" u="none" strike="noStrike" cap="none" normalizeH="0" baseline="0" dirty="0">
              <a:ln>
                <a:noFill/>
              </a:ln>
              <a:solidFill>
                <a:schemeClr val="accent2"/>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pPr>
            <a:r>
              <a:rPr kumimoji="0" lang="en-US" altLang="en-US" b="0" i="0" u="none" strike="noStrike" cap="none" normalizeH="0" baseline="0" dirty="0">
                <a:ln>
                  <a:noFill/>
                </a:ln>
                <a:solidFill>
                  <a:schemeClr val="accent2"/>
                </a:solidFill>
                <a:effectLst/>
                <a:latin typeface="Times New Roman" panose="02020603050405020304" pitchFamily="18" charset="0"/>
                <a:cs typeface="Times New Roman" panose="02020603050405020304" pitchFamily="18" charset="0"/>
              </a:rPr>
              <a:t>It uses advanced AI techniques  and computer vision to accurately detect cheating behaviors like multiple faces, eye movement, and unauthorized object usage. </a:t>
            </a:r>
            <a:endParaRPr kumimoji="0" lang="en-US" altLang="en-US" b="0" i="0" u="none" strike="noStrike" cap="none" normalizeH="0" baseline="0" dirty="0">
              <a:ln>
                <a:noFill/>
              </a:ln>
              <a:solidFill>
                <a:schemeClr val="accent2"/>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pPr>
            <a:r>
              <a:rPr kumimoji="0" lang="en-US" altLang="en-US" b="0" i="0" u="none" strike="noStrike" cap="none" normalizeH="0" baseline="0" dirty="0">
                <a:ln>
                  <a:noFill/>
                </a:ln>
                <a:solidFill>
                  <a:schemeClr val="accent2"/>
                </a:solidFill>
                <a:effectLst/>
                <a:latin typeface="Times New Roman" panose="02020603050405020304" pitchFamily="18" charset="0"/>
                <a:cs typeface="Times New Roman" panose="02020603050405020304" pitchFamily="18" charset="0"/>
              </a:rPr>
              <a:t>The system reduces the need for human invigilators by automating the monitoring process, thereby saving time and effort. </a:t>
            </a:r>
            <a:endParaRPr kumimoji="0" lang="en-US" altLang="en-US" b="0" i="0" u="none" strike="noStrike" cap="none" normalizeH="0" baseline="0" dirty="0">
              <a:ln>
                <a:noFill/>
              </a:ln>
              <a:solidFill>
                <a:schemeClr val="accent2"/>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pPr>
            <a:r>
              <a:rPr kumimoji="0" lang="en-US" altLang="en-US" b="0" i="0" u="none" strike="noStrike" cap="none" normalizeH="0" baseline="0" dirty="0">
                <a:ln>
                  <a:noFill/>
                </a:ln>
                <a:solidFill>
                  <a:schemeClr val="accent2"/>
                </a:solidFill>
                <a:effectLst/>
                <a:latin typeface="Times New Roman" panose="02020603050405020304" pitchFamily="18" charset="0"/>
                <a:cs typeface="Times New Roman" panose="02020603050405020304" pitchFamily="18" charset="0"/>
              </a:rPr>
              <a:t>It is highly scalable and can handle a large number of students simultaneously, making it suitable for large-scale online examinations. </a:t>
            </a:r>
            <a:endParaRPr kumimoji="0" lang="en-US" altLang="en-US" b="0" i="0" u="none" strike="noStrike" cap="none" normalizeH="0" baseline="0" dirty="0">
              <a:ln>
                <a:noFill/>
              </a:ln>
              <a:solidFill>
                <a:schemeClr val="accent2"/>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pPr>
            <a:r>
              <a:rPr kumimoji="0" lang="en-US" altLang="en-US" b="0" i="0" u="none" strike="noStrike" cap="none" normalizeH="0" baseline="0" dirty="0">
                <a:ln>
                  <a:noFill/>
                </a:ln>
                <a:solidFill>
                  <a:schemeClr val="accent2"/>
                </a:solidFill>
                <a:effectLst/>
                <a:latin typeface="Times New Roman" panose="02020603050405020304" pitchFamily="18" charset="0"/>
                <a:cs typeface="Times New Roman" panose="02020603050405020304" pitchFamily="18" charset="0"/>
              </a:rPr>
              <a:t>The system is cost-effective as it minimizes expenses related to manual supervision and physical infrastructure. </a:t>
            </a:r>
            <a:endParaRPr kumimoji="0" lang="en-US" altLang="en-US" b="0" i="0" u="none" strike="noStrike" cap="none" normalizeH="0" baseline="0" dirty="0">
              <a:ln>
                <a:noFill/>
              </a:ln>
              <a:solidFill>
                <a:schemeClr val="accent2"/>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3" name="Text Box 2"/>
          <p:cNvSpPr txBox="1"/>
          <p:nvPr/>
        </p:nvSpPr>
        <p:spPr>
          <a:xfrm>
            <a:off x="462280" y="4662488"/>
            <a:ext cx="5080000" cy="337185"/>
          </a:xfrm>
          <a:prstGeom prst="rect">
            <a:avLst/>
          </a:prstGeom>
        </p:spPr>
        <p:txBody>
          <a:bodyPr>
            <a:spAutoFit/>
          </a:bodyPr>
          <a:lstStyle/>
          <a:p>
            <a:pPr fontAlgn="base">
              <a:spcBef>
                <a:spcPct val="0"/>
              </a:spcBef>
              <a:spcAft>
                <a:spcPct val="0"/>
              </a:spcAft>
            </a:pPr>
            <a:r>
              <a:rPr lang="en-US" altLang="zh-CN" sz="1600" dirty="0">
                <a:latin typeface="Times New Roman" panose="02020603050405020304" pitchFamily="18" charset="0"/>
                <a:ea typeface="Times New Roman" panose="02020603050405020304"/>
                <a:cs typeface="Times New Roman" panose="02020603050405020304" pitchFamily="18" charset="0"/>
                <a:sym typeface="+mn-ea"/>
              </a:rPr>
              <a:t>Team No: 15</a:t>
            </a:r>
            <a:endParaRPr lang="en-US" altLang="zh-CN" sz="1600" b="0" i="0" dirty="0">
              <a:solidFill>
                <a:srgbClr val="FF0000"/>
              </a:solidFill>
              <a:latin typeface="Times New Roman" panose="02020603050405020304" pitchFamily="18" charset="0"/>
              <a:ea typeface="Times New Roman" panose="02020603050405020304"/>
              <a:cs typeface="Times New Roman" panose="02020603050405020304" pitchFamily="18" charset="0"/>
            </a:endParaRPr>
          </a:p>
        </p:txBody>
      </p:sp>
      <p:sp>
        <p:nvSpPr>
          <p:cNvPr id="4" name="Rectangle 3"/>
          <p:cNvSpPr/>
          <p:nvPr/>
        </p:nvSpPr>
        <p:spPr>
          <a:xfrm>
            <a:off x="7949725" y="4680784"/>
            <a:ext cx="856260" cy="307777"/>
          </a:xfrm>
          <a:prstGeom prst="rect">
            <a:avLst/>
          </a:prstGeom>
        </p:spPr>
        <p:txBody>
          <a:bodyPr wrap="none">
            <a:spAutoFit/>
          </a:bodyPr>
          <a:lstStyle/>
          <a:p>
            <a:pPr>
              <a:tabLst>
                <a:tab pos="0" algn="l"/>
              </a:tabLst>
            </a:pPr>
            <a:r>
              <a:rPr lang="en-IN" spc="-1" dirty="0">
                <a:latin typeface="Times New Roman" panose="02020603050405020304" pitchFamily="18" charset="0"/>
                <a:cs typeface="Times New Roman" panose="02020603050405020304" pitchFamily="18" charset="0"/>
              </a:rPr>
              <a:t>           1</a:t>
            </a:r>
            <a:r>
              <a:rPr lang="en-US" spc="-1" dirty="0">
                <a:latin typeface="Times New Roman" panose="02020603050405020304" pitchFamily="18" charset="0"/>
                <a:cs typeface="Times New Roman" panose="02020603050405020304" pitchFamily="18" charset="0"/>
              </a:rPr>
              <a:t>2</a:t>
            </a:r>
            <a:endParaRPr lang="en-IN" spc="-1" dirty="0">
              <a:latin typeface="Times New Roman" panose="02020603050405020304" pitchFamily="18" charset="0"/>
              <a:cs typeface="Times New Roman" panose="02020603050405020304" pitchFamily="18" charset="0"/>
            </a:endParaRPr>
          </a:p>
        </p:txBody>
      </p:sp>
      <p:sp>
        <p:nvSpPr>
          <p:cNvPr id="5" name="Google Shape;77;p10"/>
          <p:cNvSpPr txBox="1"/>
          <p:nvPr/>
        </p:nvSpPr>
        <p:spPr>
          <a:xfrm>
            <a:off x="1547761" y="48852"/>
            <a:ext cx="6904865" cy="669151"/>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chemeClr val="dk1"/>
              </a:buClr>
              <a:buSzPts val="5200"/>
              <a:buFont typeface="Noto Serif Ethiopic" panose="02020502060505020204"/>
              <a:buNone/>
            </a:pPr>
            <a:r>
              <a:rPr lang="en-US" sz="30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ARCHITECTURE</a:t>
            </a:r>
            <a:r>
              <a:rPr lang="en-US" sz="3000" b="0" i="0" u="none" strike="noStrike" cap="none" dirty="0">
                <a:solidFill>
                  <a:schemeClr val="dk1"/>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 </a:t>
            </a:r>
            <a:r>
              <a:rPr lang="en-US" sz="30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DIAGRAM</a:t>
            </a:r>
            <a:endParaRPr lang="en-US" sz="30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endParaRPr>
          </a:p>
        </p:txBody>
      </p:sp>
      <p:pic>
        <p:nvPicPr>
          <p:cNvPr id="6" name="Picture 5"/>
          <p:cNvPicPr>
            <a:picLocks noChangeAspect="1"/>
          </p:cNvPicPr>
          <p:nvPr/>
        </p:nvPicPr>
        <p:blipFill>
          <a:blip r:embed="rId1"/>
          <a:stretch>
            <a:fillRect/>
          </a:stretch>
        </p:blipFill>
        <p:spPr>
          <a:xfrm>
            <a:off x="305608" y="234458"/>
            <a:ext cx="1943899" cy="483545"/>
          </a:xfrm>
          <a:prstGeom prst="rect">
            <a:avLst/>
          </a:prstGeom>
        </p:spPr>
      </p:pic>
      <p:sp>
        <p:nvSpPr>
          <p:cNvPr id="2" name="TextBox 1"/>
          <p:cNvSpPr txBox="1"/>
          <p:nvPr/>
        </p:nvSpPr>
        <p:spPr>
          <a:xfrm>
            <a:off x="2952450" y="4554081"/>
            <a:ext cx="3256156" cy="307777"/>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Fig : Architecture Diagram </a:t>
            </a:r>
            <a:endParaRPr lang="en-US"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stretch>
            <a:fillRect/>
          </a:stretch>
        </p:blipFill>
        <p:spPr>
          <a:xfrm>
            <a:off x="2249507" y="718003"/>
            <a:ext cx="4898053" cy="361015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3" name="Text Box 2"/>
          <p:cNvSpPr txBox="1"/>
          <p:nvPr/>
        </p:nvSpPr>
        <p:spPr>
          <a:xfrm>
            <a:off x="462280" y="4662488"/>
            <a:ext cx="5080000" cy="337185"/>
          </a:xfrm>
          <a:prstGeom prst="rect">
            <a:avLst/>
          </a:prstGeom>
        </p:spPr>
        <p:txBody>
          <a:bodyPr>
            <a:spAutoFit/>
          </a:bodyPr>
          <a:lstStyle/>
          <a:p>
            <a:pPr fontAlgn="base">
              <a:spcBef>
                <a:spcPct val="0"/>
              </a:spcBef>
              <a:spcAft>
                <a:spcPct val="0"/>
              </a:spcAft>
            </a:pPr>
            <a:r>
              <a:rPr lang="en-US" altLang="zh-CN" sz="1600" dirty="0">
                <a:latin typeface="Times New Roman" panose="02020603050405020304" pitchFamily="18" charset="0"/>
                <a:ea typeface="Times New Roman" panose="02020603050405020304"/>
                <a:cs typeface="Times New Roman" panose="02020603050405020304" pitchFamily="18" charset="0"/>
                <a:sym typeface="+mn-ea"/>
              </a:rPr>
              <a:t>Team No: 15</a:t>
            </a:r>
            <a:endParaRPr lang="en-US" altLang="zh-CN" sz="1600" b="0" i="0" dirty="0">
              <a:solidFill>
                <a:srgbClr val="FF0000"/>
              </a:solidFill>
              <a:latin typeface="Times New Roman" panose="02020603050405020304" pitchFamily="18" charset="0"/>
              <a:ea typeface="Times New Roman" panose="02020603050405020304"/>
              <a:cs typeface="Times New Roman" panose="02020603050405020304" pitchFamily="18" charset="0"/>
            </a:endParaRPr>
          </a:p>
        </p:txBody>
      </p:sp>
      <p:sp>
        <p:nvSpPr>
          <p:cNvPr id="4" name="Rectangle 3"/>
          <p:cNvSpPr/>
          <p:nvPr/>
        </p:nvSpPr>
        <p:spPr>
          <a:xfrm>
            <a:off x="7949725" y="4680784"/>
            <a:ext cx="856260" cy="307777"/>
          </a:xfrm>
          <a:prstGeom prst="rect">
            <a:avLst/>
          </a:prstGeom>
        </p:spPr>
        <p:txBody>
          <a:bodyPr wrap="none">
            <a:spAutoFit/>
          </a:bodyPr>
          <a:lstStyle/>
          <a:p>
            <a:pPr>
              <a:tabLst>
                <a:tab pos="0" algn="l"/>
              </a:tabLst>
            </a:pPr>
            <a:r>
              <a:rPr lang="en-IN" spc="-1" dirty="0">
                <a:latin typeface="Times New Roman" panose="02020603050405020304" pitchFamily="18" charset="0"/>
                <a:cs typeface="Times New Roman" panose="02020603050405020304" pitchFamily="18" charset="0"/>
              </a:rPr>
              <a:t>           1</a:t>
            </a:r>
            <a:r>
              <a:rPr lang="en-US" spc="-1" dirty="0">
                <a:latin typeface="Times New Roman" panose="02020603050405020304" pitchFamily="18" charset="0"/>
                <a:cs typeface="Times New Roman" panose="02020603050405020304" pitchFamily="18" charset="0"/>
              </a:rPr>
              <a:t>3</a:t>
            </a:r>
            <a:endParaRPr lang="en-IN" spc="-1" dirty="0">
              <a:latin typeface="Times New Roman" panose="02020603050405020304" pitchFamily="18" charset="0"/>
              <a:cs typeface="Times New Roman" panose="02020603050405020304" pitchFamily="18" charset="0"/>
            </a:endParaRPr>
          </a:p>
        </p:txBody>
      </p:sp>
      <p:sp>
        <p:nvSpPr>
          <p:cNvPr id="5" name="Google Shape;77;p10"/>
          <p:cNvSpPr txBox="1"/>
          <p:nvPr/>
        </p:nvSpPr>
        <p:spPr>
          <a:xfrm>
            <a:off x="1666707" y="161359"/>
            <a:ext cx="6904865" cy="669151"/>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chemeClr val="dk1"/>
              </a:buClr>
              <a:buSzPts val="5200"/>
              <a:buFont typeface="Noto Serif Ethiopic" panose="02020502060505020204"/>
              <a:buNone/>
            </a:pPr>
            <a:r>
              <a:rPr lang="en-IN" sz="3000"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SYSTEM REQUIREMENTS</a:t>
            </a:r>
            <a:endParaRPr lang="en-US" sz="30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endParaRPr>
          </a:p>
        </p:txBody>
      </p:sp>
      <p:sp>
        <p:nvSpPr>
          <p:cNvPr id="6" name="TextBox 5"/>
          <p:cNvSpPr txBox="1"/>
          <p:nvPr/>
        </p:nvSpPr>
        <p:spPr>
          <a:xfrm>
            <a:off x="631902" y="1076206"/>
            <a:ext cx="7600320" cy="3538220"/>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HARDWARE REQUIREMENTS: </a:t>
            </a:r>
            <a:endParaRPr lang="en-IN"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t>
            </a:r>
            <a:r>
              <a:rPr lang="en-IN" b="1" dirty="0">
                <a:latin typeface="Times New Roman" panose="02020603050405020304" pitchFamily="18" charset="0"/>
                <a:cs typeface="Times New Roman" panose="02020603050405020304" pitchFamily="18" charset="0"/>
              </a:rPr>
              <a:t> Processor</a:t>
            </a:r>
            <a:r>
              <a:rPr lang="en-IN" dirty="0">
                <a:latin typeface="Times New Roman" panose="02020603050405020304" pitchFamily="18" charset="0"/>
                <a:cs typeface="Times New Roman" panose="02020603050405020304" pitchFamily="18" charset="0"/>
              </a:rPr>
              <a:t>: Minimum Intel i3 or equivalent; recommended Intel i5 or higher </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RAM: </a:t>
            </a:r>
            <a:r>
              <a:rPr lang="en-IN" dirty="0">
                <a:latin typeface="Times New Roman" panose="02020603050405020304" pitchFamily="18" charset="0"/>
                <a:cs typeface="Times New Roman" panose="02020603050405020304" pitchFamily="18" charset="0"/>
              </a:rPr>
              <a:t>At least 4 GB (8 GB recommended for smooth performance) </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Camera</a:t>
            </a:r>
            <a:r>
              <a:rPr lang="en-IN" dirty="0">
                <a:latin typeface="Times New Roman" panose="02020603050405020304" pitchFamily="18" charset="0"/>
                <a:cs typeface="Times New Roman" panose="02020603050405020304" pitchFamily="18" charset="0"/>
              </a:rPr>
              <a:t>: HD webcam (720p or higher) for face detection and monitoring </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Microphone: </a:t>
            </a:r>
            <a:r>
              <a:rPr lang="en-IN" dirty="0">
                <a:latin typeface="Times New Roman" panose="02020603050405020304" pitchFamily="18" charset="0"/>
                <a:cs typeface="Times New Roman" panose="02020603050405020304" pitchFamily="18" charset="0"/>
              </a:rPr>
              <a:t>Required for audio monitoring and detecting suspicious sounds </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Storage: </a:t>
            </a:r>
            <a:r>
              <a:rPr lang="en-IN" dirty="0">
                <a:latin typeface="Times New Roman" panose="02020603050405020304" pitchFamily="18" charset="0"/>
                <a:cs typeface="Times New Roman" panose="02020603050405020304" pitchFamily="18" charset="0"/>
              </a:rPr>
              <a:t>Minimum 500 MB free space for application and logs </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t>
            </a:r>
            <a:r>
              <a:rPr lang="en-IN" b="1" dirty="0">
                <a:latin typeface="Times New Roman" panose="02020603050405020304" pitchFamily="18" charset="0"/>
                <a:cs typeface="Times New Roman" panose="02020603050405020304" pitchFamily="18" charset="0"/>
              </a:rPr>
              <a:t> Display</a:t>
            </a:r>
            <a:r>
              <a:rPr lang="en-IN" dirty="0">
                <a:latin typeface="Times New Roman" panose="02020603050405020304" pitchFamily="18" charset="0"/>
                <a:cs typeface="Times New Roman" panose="02020603050405020304" pitchFamily="18" charset="0"/>
              </a:rPr>
              <a:t>: Standard monitor or laptop screen</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SOFTWARE REQUIREMENTS: </a:t>
            </a:r>
            <a:endParaRPr lang="en-IN"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Operating System: </a:t>
            </a:r>
            <a:r>
              <a:rPr lang="en-IN" dirty="0">
                <a:latin typeface="Times New Roman" panose="02020603050405020304" pitchFamily="18" charset="0"/>
                <a:cs typeface="Times New Roman" panose="02020603050405020304" pitchFamily="18" charset="0"/>
              </a:rPr>
              <a:t>Windows, Linux, or macOS </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Browser/Application: </a:t>
            </a:r>
            <a:r>
              <a:rPr lang="en-IN" dirty="0">
                <a:latin typeface="Times New Roman" panose="02020603050405020304" pitchFamily="18" charset="0"/>
                <a:cs typeface="Times New Roman" panose="02020603050405020304" pitchFamily="18" charset="0"/>
              </a:rPr>
              <a:t>Google Chrome, Firefox, or dedicated proctoring app </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Programming Languages: </a:t>
            </a:r>
            <a:r>
              <a:rPr lang="en-IN" dirty="0">
                <a:latin typeface="Times New Roman" panose="02020603050405020304" pitchFamily="18" charset="0"/>
                <a:cs typeface="Times New Roman" panose="02020603050405020304" pitchFamily="18" charset="0"/>
              </a:rPr>
              <a:t>Python, Java, or JavaScript for AI model integration </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Frameworks/Libraries:  </a:t>
            </a:r>
            <a:r>
              <a:rPr lang="en-IN" dirty="0">
                <a:latin typeface="Times New Roman" panose="02020603050405020304" pitchFamily="18" charset="0"/>
                <a:cs typeface="Times New Roman" panose="02020603050405020304" pitchFamily="18" charset="0"/>
              </a:rPr>
              <a:t>OpenCV (for image processing) TensorFlow / </a:t>
            </a:r>
            <a:r>
              <a:rPr lang="en-IN" dirty="0" err="1">
                <a:latin typeface="Times New Roman" panose="02020603050405020304" pitchFamily="18" charset="0"/>
                <a:cs typeface="Times New Roman" panose="02020603050405020304" pitchFamily="18" charset="0"/>
              </a:rPr>
              <a:t>PyTorch</a:t>
            </a:r>
            <a:r>
              <a:rPr lang="en-IN" dirty="0">
                <a:latin typeface="Times New Roman" panose="02020603050405020304" pitchFamily="18" charset="0"/>
                <a:cs typeface="Times New Roman" panose="02020603050405020304" pitchFamily="18" charset="0"/>
              </a:rPr>
              <a:t> (for AI models) </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Database: </a:t>
            </a:r>
            <a:r>
              <a:rPr lang="en-IN" dirty="0">
                <a:latin typeface="Times New Roman" panose="02020603050405020304" pitchFamily="18" charset="0"/>
                <a:cs typeface="Times New Roman" panose="02020603050405020304" pitchFamily="18" charset="0"/>
              </a:rPr>
              <a:t>MySQL, MongoDB, or PostgreSQL </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t>
            </a:r>
            <a:r>
              <a:rPr lang="en-IN" b="1" dirty="0">
                <a:latin typeface="Times New Roman" panose="02020603050405020304" pitchFamily="18" charset="0"/>
                <a:cs typeface="Times New Roman" panose="02020603050405020304" pitchFamily="18" charset="0"/>
              </a:rPr>
              <a:t> Server</a:t>
            </a:r>
            <a:r>
              <a:rPr lang="en-IN" dirty="0">
                <a:latin typeface="Times New Roman" panose="02020603050405020304" pitchFamily="18" charset="0"/>
                <a:cs typeface="Times New Roman" panose="02020603050405020304" pitchFamily="18" charset="0"/>
              </a:rPr>
              <a:t>: Cloud server or local server for data processing</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1"/>
          <a:stretch>
            <a:fillRect/>
          </a:stretch>
        </p:blipFill>
        <p:spPr>
          <a:xfrm>
            <a:off x="305608" y="234458"/>
            <a:ext cx="1943899" cy="4835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0"/>
          <p:cNvSpPr txBox="1"/>
          <p:nvPr/>
        </p:nvSpPr>
        <p:spPr>
          <a:xfrm>
            <a:off x="2502105" y="143827"/>
            <a:ext cx="4139786" cy="669151"/>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chemeClr val="dk1"/>
              </a:buClr>
              <a:buSzPts val="5200"/>
              <a:buFont typeface="Noto Serif Ethiopic" panose="02020502060505020204"/>
              <a:buNone/>
            </a:pPr>
            <a:r>
              <a:rPr lang="en-IN" sz="3000"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M</a:t>
            </a:r>
            <a:r>
              <a:rPr lang="en-US" sz="3000"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ETHODOLOGY</a:t>
            </a:r>
            <a:endParaRPr lang="en-US" sz="30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endParaRPr>
          </a:p>
        </p:txBody>
      </p:sp>
      <p:sp>
        <p:nvSpPr>
          <p:cNvPr id="3" name="Text Box 2"/>
          <p:cNvSpPr txBox="1"/>
          <p:nvPr/>
        </p:nvSpPr>
        <p:spPr>
          <a:xfrm>
            <a:off x="469714" y="4655054"/>
            <a:ext cx="5080000" cy="337185"/>
          </a:xfrm>
          <a:prstGeom prst="rect">
            <a:avLst/>
          </a:prstGeom>
        </p:spPr>
        <p:txBody>
          <a:bodyPr>
            <a:spAutoFit/>
          </a:bodyPr>
          <a:lstStyle/>
          <a:p>
            <a:pPr fontAlgn="base">
              <a:spcBef>
                <a:spcPct val="0"/>
              </a:spcBef>
              <a:spcAft>
                <a:spcPct val="0"/>
              </a:spcAft>
            </a:pPr>
            <a:r>
              <a:rPr lang="en-US" altLang="zh-CN" sz="1600" dirty="0">
                <a:latin typeface="Times New Roman" panose="02020603050405020304" pitchFamily="18" charset="0"/>
                <a:ea typeface="Times New Roman" panose="02020603050405020304"/>
                <a:cs typeface="Times New Roman" panose="02020603050405020304" pitchFamily="18" charset="0"/>
                <a:sym typeface="+mn-ea"/>
              </a:rPr>
              <a:t>Team No: 15</a:t>
            </a:r>
            <a:endParaRPr lang="en-US" altLang="zh-CN" sz="1600" b="0" i="0" dirty="0">
              <a:solidFill>
                <a:srgbClr val="FF0000"/>
              </a:solidFill>
              <a:latin typeface="Times New Roman" panose="02020603050405020304" pitchFamily="18" charset="0"/>
              <a:ea typeface="Times New Roman" panose="02020603050405020304"/>
              <a:cs typeface="Times New Roman" panose="02020603050405020304" pitchFamily="18" charset="0"/>
            </a:endParaRPr>
          </a:p>
        </p:txBody>
      </p:sp>
      <p:sp>
        <p:nvSpPr>
          <p:cNvPr id="4" name="Rectangle 3"/>
          <p:cNvSpPr/>
          <p:nvPr/>
        </p:nvSpPr>
        <p:spPr>
          <a:xfrm>
            <a:off x="7949725" y="4680784"/>
            <a:ext cx="901016" cy="307777"/>
          </a:xfrm>
          <a:prstGeom prst="rect">
            <a:avLst/>
          </a:prstGeom>
        </p:spPr>
        <p:txBody>
          <a:bodyPr wrap="none">
            <a:spAutoFit/>
          </a:bodyPr>
          <a:lstStyle/>
          <a:p>
            <a:pPr>
              <a:tabLst>
                <a:tab pos="0" algn="l"/>
              </a:tabLst>
            </a:pPr>
            <a:r>
              <a:rPr lang="en-US" spc="-1" dirty="0">
                <a:latin typeface="Times New Roman" panose="02020603050405020304" pitchFamily="18" charset="0"/>
                <a:cs typeface="Times New Roman" panose="02020603050405020304" pitchFamily="18" charset="0"/>
              </a:rPr>
              <a:t>            14</a:t>
            </a:r>
            <a:endParaRPr lang="en-IN" spc="-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565814" y="999714"/>
            <a:ext cx="8012367" cy="3931654"/>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1. Exam Setup &amp; Authentication Module :</a:t>
            </a:r>
            <a:endParaRPr lang="en-IN" b="1" dirty="0">
              <a:latin typeface="Times New Roman" panose="02020603050405020304" pitchFamily="18" charset="0"/>
              <a:cs typeface="Times New Roman" panose="02020603050405020304" pitchFamily="18" charset="0"/>
            </a:endParaRPr>
          </a:p>
          <a:p>
            <a:pPr>
              <a:lnSpc>
                <a:spcPct val="150000"/>
              </a:lnSpc>
            </a:pPr>
            <a:r>
              <a:rPr lang="en-IN" b="1" dirty="0">
                <a:latin typeface="Times New Roman" panose="02020603050405020304" pitchFamily="18" charset="0"/>
                <a:cs typeface="Times New Roman" panose="02020603050405020304" pitchFamily="18" charset="0"/>
              </a:rPr>
              <a:t>User Login System:</a:t>
            </a:r>
            <a:r>
              <a:rPr lang="en-IN" dirty="0">
                <a:latin typeface="Times New Roman" panose="02020603050405020304" pitchFamily="18" charset="0"/>
                <a:cs typeface="Times New Roman" panose="02020603050405020304" pitchFamily="18" charset="0"/>
              </a:rPr>
              <a:t> Students log in using secure credentials to access the exam portal.</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Exam Setup Dashboard:</a:t>
            </a:r>
            <a:r>
              <a:rPr lang="en-IN" dirty="0">
                <a:latin typeface="Times New Roman" panose="02020603050405020304" pitchFamily="18" charset="0"/>
                <a:cs typeface="Times New Roman" panose="02020603050405020304" pitchFamily="18" charset="0"/>
              </a:rPr>
              <a:t> Displays exam URL, time limit, and important instructions to be followed.</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Webcam &amp; System Check:</a:t>
            </a:r>
            <a:r>
              <a:rPr lang="en-IN" dirty="0">
                <a:latin typeface="Times New Roman" panose="02020603050405020304" pitchFamily="18" charset="0"/>
                <a:cs typeface="Times New Roman" panose="02020603050405020304" pitchFamily="18" charset="0"/>
              </a:rPr>
              <a:t> Performs camera, microphone, and environment checks before starting the exam.</a:t>
            </a:r>
            <a:endParaRPr lang="en-IN"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2. AI Proctoring &amp; Exam Session Module :</a:t>
            </a:r>
            <a:endParaRPr lang="en-US" b="1"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Exam Interface:</a:t>
            </a:r>
            <a:r>
              <a:rPr lang="en-US" dirty="0">
                <a:latin typeface="Times New Roman" panose="02020603050405020304" pitchFamily="18" charset="0"/>
                <a:cs typeface="Times New Roman" panose="02020603050405020304" pitchFamily="18" charset="0"/>
              </a:rPr>
              <a:t> Students access and attempt questions within the given time.</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Live Monitoring:</a:t>
            </a:r>
            <a:r>
              <a:rPr lang="en-US" dirty="0">
                <a:latin typeface="Times New Roman" panose="02020603050405020304" pitchFamily="18" charset="0"/>
                <a:cs typeface="Times New Roman" panose="02020603050405020304" pitchFamily="18" charset="0"/>
              </a:rPr>
              <a:t> Webcam and microphone continuously capture video and audio data.</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Self-View Feature:</a:t>
            </a:r>
            <a:r>
              <a:rPr lang="en-US" dirty="0">
                <a:latin typeface="Times New Roman" panose="02020603050405020304" pitchFamily="18" charset="0"/>
                <a:cs typeface="Times New Roman" panose="02020603050405020304" pitchFamily="18" charset="0"/>
              </a:rPr>
              <a:t> Students can view their own camera feed during the exam.</a:t>
            </a: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305608" y="234458"/>
            <a:ext cx="1943899" cy="48354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0"/>
          <p:cNvSpPr txBox="1"/>
          <p:nvPr/>
        </p:nvSpPr>
        <p:spPr>
          <a:xfrm>
            <a:off x="2502106" y="164246"/>
            <a:ext cx="4139786" cy="669151"/>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chemeClr val="dk1"/>
              </a:buClr>
              <a:buSzPts val="5200"/>
              <a:buFont typeface="Noto Serif Ethiopic" panose="02020502060505020204"/>
              <a:buNone/>
            </a:pPr>
            <a:r>
              <a:rPr lang="en-IN" sz="3000"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M</a:t>
            </a:r>
            <a:r>
              <a:rPr lang="en-US" sz="3000"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ETHODOLOGY</a:t>
            </a:r>
            <a:endParaRPr lang="en-US" sz="30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endParaRPr>
          </a:p>
        </p:txBody>
      </p:sp>
      <p:sp>
        <p:nvSpPr>
          <p:cNvPr id="3" name="Text Box 2"/>
          <p:cNvSpPr txBox="1"/>
          <p:nvPr/>
        </p:nvSpPr>
        <p:spPr>
          <a:xfrm>
            <a:off x="462280" y="4662488"/>
            <a:ext cx="5080000" cy="337185"/>
          </a:xfrm>
          <a:prstGeom prst="rect">
            <a:avLst/>
          </a:prstGeom>
        </p:spPr>
        <p:txBody>
          <a:bodyPr>
            <a:spAutoFit/>
          </a:bodyPr>
          <a:lstStyle/>
          <a:p>
            <a:pPr fontAlgn="base">
              <a:spcBef>
                <a:spcPct val="0"/>
              </a:spcBef>
              <a:spcAft>
                <a:spcPct val="0"/>
              </a:spcAft>
            </a:pPr>
            <a:r>
              <a:rPr lang="en-US" altLang="zh-CN" sz="1600" dirty="0">
                <a:latin typeface="Times New Roman" panose="02020603050405020304" pitchFamily="18" charset="0"/>
                <a:ea typeface="Times New Roman" panose="02020603050405020304"/>
                <a:cs typeface="Times New Roman" panose="02020603050405020304" pitchFamily="18" charset="0"/>
                <a:sym typeface="+mn-ea"/>
              </a:rPr>
              <a:t>Team No: 15</a:t>
            </a:r>
            <a:endParaRPr lang="en-US" altLang="zh-CN" sz="1600" b="0" i="0" dirty="0">
              <a:solidFill>
                <a:srgbClr val="FF0000"/>
              </a:solidFill>
              <a:latin typeface="Times New Roman" panose="02020603050405020304" pitchFamily="18" charset="0"/>
              <a:ea typeface="Times New Roman" panose="02020603050405020304"/>
              <a:cs typeface="Times New Roman" panose="02020603050405020304" pitchFamily="18" charset="0"/>
            </a:endParaRPr>
          </a:p>
        </p:txBody>
      </p:sp>
      <p:sp>
        <p:nvSpPr>
          <p:cNvPr id="4" name="Rectangle 3"/>
          <p:cNvSpPr/>
          <p:nvPr/>
        </p:nvSpPr>
        <p:spPr>
          <a:xfrm>
            <a:off x="7949725" y="4680784"/>
            <a:ext cx="901016" cy="307777"/>
          </a:xfrm>
          <a:prstGeom prst="rect">
            <a:avLst/>
          </a:prstGeom>
        </p:spPr>
        <p:txBody>
          <a:bodyPr wrap="none">
            <a:spAutoFit/>
          </a:bodyPr>
          <a:lstStyle/>
          <a:p>
            <a:pPr>
              <a:tabLst>
                <a:tab pos="0" algn="l"/>
              </a:tabLst>
            </a:pPr>
            <a:r>
              <a:rPr lang="en-US" spc="-1" dirty="0">
                <a:latin typeface="Times New Roman" panose="02020603050405020304" pitchFamily="18" charset="0"/>
                <a:cs typeface="Times New Roman" panose="02020603050405020304" pitchFamily="18" charset="0"/>
              </a:rPr>
              <a:t>            15</a:t>
            </a:r>
            <a:endParaRPr lang="en-IN" spc="-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777414" y="1105281"/>
            <a:ext cx="8012367" cy="3285323"/>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3. AI-Based Behavior Analysis Module :</a:t>
            </a:r>
            <a:endParaRPr lang="en-US" b="1"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Face Detection:</a:t>
            </a:r>
            <a:r>
              <a:rPr lang="en-US" dirty="0">
                <a:latin typeface="Times New Roman" panose="02020603050405020304" pitchFamily="18" charset="0"/>
                <a:cs typeface="Times New Roman" panose="02020603050405020304" pitchFamily="18" charset="0"/>
              </a:rPr>
              <a:t> Ensures only one face is present during the exam.</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Eye &amp; Head Tracking:</a:t>
            </a:r>
            <a:r>
              <a:rPr lang="en-US" dirty="0">
                <a:latin typeface="Times New Roman" panose="02020603050405020304" pitchFamily="18" charset="0"/>
                <a:cs typeface="Times New Roman" panose="02020603050405020304" pitchFamily="18" charset="0"/>
              </a:rPr>
              <a:t> Detects if the student is looking away frequently.</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Object Detection:</a:t>
            </a:r>
            <a:r>
              <a:rPr lang="en-US" dirty="0">
                <a:latin typeface="Times New Roman" panose="02020603050405020304" pitchFamily="18" charset="0"/>
                <a:cs typeface="Times New Roman" panose="02020603050405020304" pitchFamily="18" charset="0"/>
              </a:rPr>
              <a:t> Identifies unauthorized items like mobile phones or books.</a:t>
            </a: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b="1" dirty="0">
                <a:solidFill>
                  <a:schemeClr val="accent2"/>
                </a:solidFill>
                <a:latin typeface="Times New Roman" panose="02020603050405020304" pitchFamily="18" charset="0"/>
                <a:cs typeface="Times New Roman" panose="02020603050405020304" pitchFamily="18" charset="0"/>
              </a:rPr>
              <a:t>4. Cheating Detection &amp; Alert System :</a:t>
            </a:r>
            <a:endParaRPr lang="en-US" b="1" dirty="0">
              <a:solidFill>
                <a:schemeClr val="accent2"/>
              </a:solidFill>
              <a:latin typeface="Times New Roman" panose="02020603050405020304" pitchFamily="18" charset="0"/>
              <a:cs typeface="Times New Roman" panose="02020603050405020304" pitchFamily="18" charset="0"/>
            </a:endParaRPr>
          </a:p>
          <a:p>
            <a:pPr>
              <a:lnSpc>
                <a:spcPct val="150000"/>
              </a:lnSpc>
            </a:pPr>
            <a:r>
              <a:rPr lang="en-US" b="1" dirty="0">
                <a:solidFill>
                  <a:schemeClr val="accent2"/>
                </a:solidFill>
                <a:latin typeface="Times New Roman" panose="02020603050405020304" pitchFamily="18" charset="0"/>
                <a:cs typeface="Times New Roman" panose="02020603050405020304" pitchFamily="18" charset="0"/>
              </a:rPr>
              <a:t>Suspicious Activity Detection:</a:t>
            </a:r>
            <a:r>
              <a:rPr lang="en-US" dirty="0">
                <a:solidFill>
                  <a:schemeClr val="accent2"/>
                </a:solidFill>
                <a:latin typeface="Times New Roman" panose="02020603050405020304" pitchFamily="18" charset="0"/>
                <a:cs typeface="Times New Roman" panose="02020603050405020304" pitchFamily="18" charset="0"/>
              </a:rPr>
              <a:t> Flags actions like multiple faces or unusual movements.</a:t>
            </a:r>
            <a:br>
              <a:rPr lang="en-US" dirty="0">
                <a:solidFill>
                  <a:schemeClr val="accent2"/>
                </a:solidFill>
                <a:latin typeface="Times New Roman" panose="02020603050405020304" pitchFamily="18" charset="0"/>
                <a:cs typeface="Times New Roman" panose="02020603050405020304" pitchFamily="18" charset="0"/>
              </a:rPr>
            </a:br>
            <a:r>
              <a:rPr lang="en-US" b="1" dirty="0">
                <a:solidFill>
                  <a:schemeClr val="accent2"/>
                </a:solidFill>
                <a:latin typeface="Times New Roman" panose="02020603050405020304" pitchFamily="18" charset="0"/>
                <a:cs typeface="Times New Roman" panose="02020603050405020304" pitchFamily="18" charset="0"/>
              </a:rPr>
              <a:t>Real-Time Alerts:</a:t>
            </a:r>
            <a:r>
              <a:rPr lang="en-US" dirty="0">
                <a:solidFill>
                  <a:schemeClr val="accent2"/>
                </a:solidFill>
                <a:latin typeface="Times New Roman" panose="02020603050405020304" pitchFamily="18" charset="0"/>
                <a:cs typeface="Times New Roman" panose="02020603050405020304" pitchFamily="18" charset="0"/>
              </a:rPr>
              <a:t> Generates warnings instantly during the exam.</a:t>
            </a:r>
            <a:br>
              <a:rPr lang="en-US" dirty="0">
                <a:solidFill>
                  <a:schemeClr val="accent2"/>
                </a:solidFill>
                <a:latin typeface="Times New Roman" panose="02020603050405020304" pitchFamily="18" charset="0"/>
                <a:cs typeface="Times New Roman" panose="02020603050405020304" pitchFamily="18" charset="0"/>
              </a:rPr>
            </a:br>
            <a:r>
              <a:rPr lang="en-US" b="1" dirty="0">
                <a:solidFill>
                  <a:schemeClr val="accent2"/>
                </a:solidFill>
                <a:latin typeface="Times New Roman" panose="02020603050405020304" pitchFamily="18" charset="0"/>
                <a:cs typeface="Times New Roman" panose="02020603050405020304" pitchFamily="18" charset="0"/>
              </a:rPr>
              <a:t>Event Logging:</a:t>
            </a:r>
            <a:r>
              <a:rPr lang="en-US" dirty="0">
                <a:solidFill>
                  <a:schemeClr val="accent2"/>
                </a:solidFill>
                <a:latin typeface="Times New Roman" panose="02020603050405020304" pitchFamily="18" charset="0"/>
                <a:cs typeface="Times New Roman" panose="02020603050405020304" pitchFamily="18" charset="0"/>
              </a:rPr>
              <a:t> Records all suspicious activities for review.</a:t>
            </a:r>
            <a:endParaRPr lang="en-US" dirty="0">
              <a:solidFill>
                <a:schemeClr val="accent2"/>
              </a:solidFill>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305608" y="234458"/>
            <a:ext cx="1943899" cy="48354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0"/>
          <p:cNvSpPr txBox="1"/>
          <p:nvPr/>
        </p:nvSpPr>
        <p:spPr>
          <a:xfrm>
            <a:off x="2502106" y="164246"/>
            <a:ext cx="4139786" cy="669151"/>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chemeClr val="dk1"/>
              </a:buClr>
              <a:buSzPts val="5200"/>
              <a:buFont typeface="Noto Serif Ethiopic" panose="02020502060505020204"/>
              <a:buNone/>
            </a:pPr>
            <a:r>
              <a:rPr lang="en-IN" sz="3000"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M</a:t>
            </a:r>
            <a:r>
              <a:rPr lang="en-US" sz="3000"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ETHODOLOGY</a:t>
            </a:r>
            <a:endParaRPr lang="en-US" sz="30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endParaRPr>
          </a:p>
        </p:txBody>
      </p:sp>
      <p:sp>
        <p:nvSpPr>
          <p:cNvPr id="3" name="Text Box 2"/>
          <p:cNvSpPr txBox="1"/>
          <p:nvPr/>
        </p:nvSpPr>
        <p:spPr>
          <a:xfrm>
            <a:off x="462280" y="4662488"/>
            <a:ext cx="5080000" cy="337185"/>
          </a:xfrm>
          <a:prstGeom prst="rect">
            <a:avLst/>
          </a:prstGeom>
        </p:spPr>
        <p:txBody>
          <a:bodyPr>
            <a:spAutoFit/>
          </a:bodyPr>
          <a:lstStyle/>
          <a:p>
            <a:pPr fontAlgn="base">
              <a:spcBef>
                <a:spcPct val="0"/>
              </a:spcBef>
              <a:spcAft>
                <a:spcPct val="0"/>
              </a:spcAft>
            </a:pPr>
            <a:r>
              <a:rPr lang="en-US" altLang="zh-CN" sz="1600" dirty="0">
                <a:latin typeface="Times New Roman" panose="02020603050405020304" pitchFamily="18" charset="0"/>
                <a:ea typeface="Times New Roman" panose="02020603050405020304"/>
                <a:cs typeface="Times New Roman" panose="02020603050405020304" pitchFamily="18" charset="0"/>
                <a:sym typeface="+mn-ea"/>
              </a:rPr>
              <a:t>Team No: 15</a:t>
            </a:r>
            <a:endParaRPr lang="en-US" altLang="zh-CN" sz="1600" b="0" i="0" dirty="0">
              <a:solidFill>
                <a:srgbClr val="FF0000"/>
              </a:solidFill>
              <a:latin typeface="Times New Roman" panose="02020603050405020304" pitchFamily="18" charset="0"/>
              <a:ea typeface="Times New Roman" panose="02020603050405020304"/>
              <a:cs typeface="Times New Roman" panose="02020603050405020304" pitchFamily="18" charset="0"/>
            </a:endParaRPr>
          </a:p>
        </p:txBody>
      </p:sp>
      <p:sp>
        <p:nvSpPr>
          <p:cNvPr id="4" name="Rectangle 3"/>
          <p:cNvSpPr/>
          <p:nvPr/>
        </p:nvSpPr>
        <p:spPr>
          <a:xfrm>
            <a:off x="7949725" y="4680784"/>
            <a:ext cx="901016" cy="307777"/>
          </a:xfrm>
          <a:prstGeom prst="rect">
            <a:avLst/>
          </a:prstGeom>
        </p:spPr>
        <p:txBody>
          <a:bodyPr wrap="none">
            <a:spAutoFit/>
          </a:bodyPr>
          <a:lstStyle/>
          <a:p>
            <a:pPr>
              <a:tabLst>
                <a:tab pos="0" algn="l"/>
              </a:tabLst>
            </a:pPr>
            <a:r>
              <a:rPr lang="en-US" spc="-1" dirty="0">
                <a:latin typeface="Times New Roman" panose="02020603050405020304" pitchFamily="18" charset="0"/>
                <a:cs typeface="Times New Roman" panose="02020603050405020304" pitchFamily="18" charset="0"/>
              </a:rPr>
              <a:t>            16</a:t>
            </a:r>
            <a:endParaRPr lang="en-IN" spc="-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920813" y="1209166"/>
            <a:ext cx="8012367" cy="2962158"/>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4. Cheating Detection &amp; Alert System :</a:t>
            </a:r>
            <a:endParaRPr lang="en-US" b="1"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Suspicious Activity Detection:</a:t>
            </a:r>
            <a:r>
              <a:rPr lang="en-US" dirty="0">
                <a:latin typeface="Times New Roman" panose="02020603050405020304" pitchFamily="18" charset="0"/>
                <a:cs typeface="Times New Roman" panose="02020603050405020304" pitchFamily="18" charset="0"/>
              </a:rPr>
              <a:t> Flags actions like multiple faces or unusual movements.</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Real-Time Alerts:</a:t>
            </a:r>
            <a:r>
              <a:rPr lang="en-US" dirty="0">
                <a:latin typeface="Times New Roman" panose="02020603050405020304" pitchFamily="18" charset="0"/>
                <a:cs typeface="Times New Roman" panose="02020603050405020304" pitchFamily="18" charset="0"/>
              </a:rPr>
              <a:t> Generates warnings instantly during the exam.</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Event Logging:</a:t>
            </a:r>
            <a:r>
              <a:rPr lang="en-US" dirty="0">
                <a:latin typeface="Times New Roman" panose="02020603050405020304" pitchFamily="18" charset="0"/>
                <a:cs typeface="Times New Roman" panose="02020603050405020304" pitchFamily="18" charset="0"/>
              </a:rPr>
              <a:t> Records all suspicious activities for review.</a:t>
            </a:r>
            <a:endParaRPr lang="en-US" dirty="0">
              <a:latin typeface="Times New Roman" panose="02020603050405020304" pitchFamily="18" charset="0"/>
              <a:cs typeface="Times New Roman" panose="02020603050405020304" pitchFamily="18" charset="0"/>
            </a:endParaRP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6. Database Storage &amp; Management :</a:t>
            </a:r>
            <a:endParaRPr lang="en-US" b="1"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Data Storage:</a:t>
            </a:r>
            <a:r>
              <a:rPr lang="en-US" dirty="0">
                <a:latin typeface="Times New Roman" panose="02020603050405020304" pitchFamily="18" charset="0"/>
                <a:cs typeface="Times New Roman" panose="02020603050405020304" pitchFamily="18" charset="0"/>
              </a:rPr>
              <a:t> Stores student details, exam responses, and monitoring data.</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Data Retrieval:</a:t>
            </a:r>
            <a:r>
              <a:rPr lang="en-US" dirty="0">
                <a:latin typeface="Times New Roman" panose="02020603050405020304" pitchFamily="18" charset="0"/>
                <a:cs typeface="Times New Roman" panose="02020603050405020304" pitchFamily="18" charset="0"/>
              </a:rPr>
              <a:t> Allows admin to access reports and past exam records.</a:t>
            </a: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305608" y="234458"/>
            <a:ext cx="1943899" cy="48354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3" name="Text Box 2"/>
          <p:cNvSpPr txBox="1"/>
          <p:nvPr/>
        </p:nvSpPr>
        <p:spPr>
          <a:xfrm>
            <a:off x="462280" y="4662488"/>
            <a:ext cx="5080000" cy="337185"/>
          </a:xfrm>
          <a:prstGeom prst="rect">
            <a:avLst/>
          </a:prstGeom>
        </p:spPr>
        <p:txBody>
          <a:bodyPr>
            <a:spAutoFit/>
          </a:bodyPr>
          <a:lstStyle/>
          <a:p>
            <a:pPr fontAlgn="base">
              <a:spcBef>
                <a:spcPct val="0"/>
              </a:spcBef>
              <a:spcAft>
                <a:spcPct val="0"/>
              </a:spcAft>
            </a:pPr>
            <a:r>
              <a:rPr lang="en-US" altLang="zh-CN" sz="1600" dirty="0">
                <a:latin typeface="Times New Roman" panose="02020603050405020304" pitchFamily="18" charset="0"/>
                <a:ea typeface="Times New Roman" panose="02020603050405020304"/>
                <a:cs typeface="Times New Roman" panose="02020603050405020304" pitchFamily="18" charset="0"/>
                <a:sym typeface="+mn-ea"/>
              </a:rPr>
              <a:t>Team No: 15</a:t>
            </a:r>
            <a:endParaRPr lang="en-US" altLang="zh-CN" sz="1600" b="0" i="0" dirty="0">
              <a:solidFill>
                <a:srgbClr val="FF0000"/>
              </a:solidFill>
              <a:latin typeface="Times New Roman" panose="02020603050405020304" pitchFamily="18" charset="0"/>
              <a:ea typeface="Times New Roman" panose="02020603050405020304"/>
              <a:cs typeface="Times New Roman" panose="02020603050405020304" pitchFamily="18" charset="0"/>
            </a:endParaRPr>
          </a:p>
        </p:txBody>
      </p:sp>
      <p:sp>
        <p:nvSpPr>
          <p:cNvPr id="4" name="Rectangle 3"/>
          <p:cNvSpPr/>
          <p:nvPr/>
        </p:nvSpPr>
        <p:spPr>
          <a:xfrm>
            <a:off x="7949725" y="4680784"/>
            <a:ext cx="856260" cy="307777"/>
          </a:xfrm>
          <a:prstGeom prst="rect">
            <a:avLst/>
          </a:prstGeom>
        </p:spPr>
        <p:txBody>
          <a:bodyPr wrap="none">
            <a:spAutoFit/>
          </a:bodyPr>
          <a:lstStyle/>
          <a:p>
            <a:pPr>
              <a:tabLst>
                <a:tab pos="0" algn="l"/>
              </a:tabLst>
            </a:pPr>
            <a:r>
              <a:rPr lang="en-IN" spc="-1" dirty="0">
                <a:latin typeface="Times New Roman" panose="02020603050405020304" pitchFamily="18" charset="0"/>
                <a:cs typeface="Times New Roman" panose="02020603050405020304" pitchFamily="18" charset="0"/>
              </a:rPr>
              <a:t>           17</a:t>
            </a:r>
            <a:endParaRPr lang="en-IN" spc="-1" dirty="0">
              <a:latin typeface="Times New Roman" panose="02020603050405020304" pitchFamily="18" charset="0"/>
              <a:cs typeface="Times New Roman" panose="02020603050405020304" pitchFamily="18" charset="0"/>
            </a:endParaRPr>
          </a:p>
        </p:txBody>
      </p:sp>
      <p:sp>
        <p:nvSpPr>
          <p:cNvPr id="5" name="Google Shape;77;p10"/>
          <p:cNvSpPr txBox="1"/>
          <p:nvPr/>
        </p:nvSpPr>
        <p:spPr>
          <a:xfrm>
            <a:off x="1472990" y="307756"/>
            <a:ext cx="6904865" cy="669151"/>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chemeClr val="dk1"/>
              </a:buClr>
              <a:buSzPts val="5200"/>
              <a:buFont typeface="Noto Serif Ethiopic" panose="02020502060505020204"/>
              <a:buNone/>
            </a:pPr>
            <a:r>
              <a:rPr lang="en-IN" sz="30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RESULT AND DISCUSSION</a:t>
            </a:r>
            <a:endParaRPr lang="en-US" sz="30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endParaRPr>
          </a:p>
        </p:txBody>
      </p:sp>
      <p:pic>
        <p:nvPicPr>
          <p:cNvPr id="6" name="Picture 5"/>
          <p:cNvPicPr>
            <a:picLocks noChangeAspect="1"/>
          </p:cNvPicPr>
          <p:nvPr/>
        </p:nvPicPr>
        <p:blipFill>
          <a:blip r:embed="rId1"/>
          <a:stretch>
            <a:fillRect/>
          </a:stretch>
        </p:blipFill>
        <p:spPr>
          <a:xfrm>
            <a:off x="305608" y="234458"/>
            <a:ext cx="1943899" cy="483545"/>
          </a:xfrm>
          <a:prstGeom prst="rect">
            <a:avLst/>
          </a:prstGeom>
        </p:spPr>
      </p:pic>
      <p:sp>
        <p:nvSpPr>
          <p:cNvPr id="2" name="TextBox 1"/>
          <p:cNvSpPr txBox="1"/>
          <p:nvPr/>
        </p:nvSpPr>
        <p:spPr>
          <a:xfrm>
            <a:off x="854926" y="4293686"/>
            <a:ext cx="3628863"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 Student Verification &amp; Authentication</a:t>
            </a:r>
            <a:endParaRPr lang="en-US" dirty="0">
              <a:latin typeface="Times New Roman" panose="02020603050405020304" pitchFamily="18" charset="0"/>
              <a:cs typeface="Times New Roman" panose="02020603050405020304" pitchFamily="18" charset="0"/>
            </a:endParaRPr>
          </a:p>
        </p:txBody>
      </p:sp>
      <p:sp>
        <p:nvSpPr>
          <p:cNvPr id="7" name="TextBox 6"/>
          <p:cNvSpPr txBox="1"/>
          <p:nvPr/>
        </p:nvSpPr>
        <p:spPr>
          <a:xfrm>
            <a:off x="5151865" y="4232661"/>
            <a:ext cx="3419707" cy="307777"/>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 Camera Verification</a:t>
            </a:r>
            <a:endParaRPr lang="en-US" dirty="0">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4801461" y="1235812"/>
            <a:ext cx="3507918" cy="2996849"/>
          </a:xfrm>
          <a:prstGeom prst="rect">
            <a:avLst/>
          </a:prstGeom>
        </p:spPr>
      </p:pic>
      <p:pic>
        <p:nvPicPr>
          <p:cNvPr id="12" name="Picture 11"/>
          <p:cNvPicPr>
            <a:picLocks noChangeAspect="1"/>
          </p:cNvPicPr>
          <p:nvPr/>
        </p:nvPicPr>
        <p:blipFill>
          <a:blip r:embed="rId3"/>
          <a:stretch>
            <a:fillRect/>
          </a:stretch>
        </p:blipFill>
        <p:spPr>
          <a:xfrm>
            <a:off x="592733" y="1235812"/>
            <a:ext cx="3979268" cy="299684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3" name="Text Box 2"/>
          <p:cNvSpPr txBox="1"/>
          <p:nvPr/>
        </p:nvSpPr>
        <p:spPr>
          <a:xfrm>
            <a:off x="462280" y="4662488"/>
            <a:ext cx="5080000" cy="337185"/>
          </a:xfrm>
          <a:prstGeom prst="rect">
            <a:avLst/>
          </a:prstGeom>
        </p:spPr>
        <p:txBody>
          <a:bodyPr>
            <a:spAutoFit/>
          </a:bodyPr>
          <a:lstStyle/>
          <a:p>
            <a:pPr fontAlgn="base">
              <a:spcBef>
                <a:spcPct val="0"/>
              </a:spcBef>
              <a:spcAft>
                <a:spcPct val="0"/>
              </a:spcAft>
            </a:pPr>
            <a:r>
              <a:rPr lang="en-US" altLang="zh-CN" sz="1600" dirty="0">
                <a:latin typeface="Times New Roman" panose="02020603050405020304" pitchFamily="18" charset="0"/>
                <a:ea typeface="Times New Roman" panose="02020603050405020304"/>
                <a:cs typeface="Times New Roman" panose="02020603050405020304" pitchFamily="18" charset="0"/>
                <a:sym typeface="+mn-ea"/>
              </a:rPr>
              <a:t>Team No: 15</a:t>
            </a:r>
            <a:endParaRPr lang="en-US" altLang="zh-CN" sz="1600" b="0" i="0" dirty="0">
              <a:solidFill>
                <a:srgbClr val="FF0000"/>
              </a:solidFill>
              <a:latin typeface="Times New Roman" panose="02020603050405020304" pitchFamily="18" charset="0"/>
              <a:ea typeface="Times New Roman" panose="02020603050405020304"/>
              <a:cs typeface="Times New Roman" panose="02020603050405020304" pitchFamily="18" charset="0"/>
            </a:endParaRPr>
          </a:p>
        </p:txBody>
      </p:sp>
      <p:sp>
        <p:nvSpPr>
          <p:cNvPr id="4" name="Rectangle 3"/>
          <p:cNvSpPr/>
          <p:nvPr/>
        </p:nvSpPr>
        <p:spPr>
          <a:xfrm>
            <a:off x="7949725" y="4680784"/>
            <a:ext cx="811504" cy="307777"/>
          </a:xfrm>
          <a:prstGeom prst="rect">
            <a:avLst/>
          </a:prstGeom>
        </p:spPr>
        <p:txBody>
          <a:bodyPr wrap="none">
            <a:spAutoFit/>
          </a:bodyPr>
          <a:lstStyle/>
          <a:p>
            <a:pPr>
              <a:tabLst>
                <a:tab pos="0" algn="l"/>
              </a:tabLst>
            </a:pPr>
            <a:r>
              <a:rPr lang="en-IN" spc="-1" dirty="0">
                <a:latin typeface="Times New Roman" panose="02020603050405020304" pitchFamily="18" charset="0"/>
                <a:cs typeface="Times New Roman" panose="02020603050405020304" pitchFamily="18" charset="0"/>
              </a:rPr>
              <a:t>          18</a:t>
            </a:r>
            <a:endParaRPr lang="en-IN" spc="-1"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a:stretch>
            <a:fillRect/>
          </a:stretch>
        </p:blipFill>
        <p:spPr>
          <a:xfrm>
            <a:off x="305608" y="234458"/>
            <a:ext cx="1943899" cy="483545"/>
          </a:xfrm>
          <a:prstGeom prst="rect">
            <a:avLst/>
          </a:prstGeom>
        </p:spPr>
      </p:pic>
      <p:sp>
        <p:nvSpPr>
          <p:cNvPr id="8" name="Google Shape;77;p10"/>
          <p:cNvSpPr txBox="1"/>
          <p:nvPr/>
        </p:nvSpPr>
        <p:spPr>
          <a:xfrm>
            <a:off x="1666707" y="187530"/>
            <a:ext cx="6904865" cy="669151"/>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chemeClr val="dk1"/>
              </a:buClr>
              <a:buSzPts val="5200"/>
              <a:buFont typeface="Noto Serif Ethiopic" panose="02020502060505020204"/>
              <a:buNone/>
            </a:pPr>
            <a:r>
              <a:rPr lang="en-IN" sz="30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RESULT AND DISCUSSION</a:t>
            </a:r>
            <a:endParaRPr lang="en-US" sz="30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endParaRPr>
          </a:p>
        </p:txBody>
      </p:sp>
      <p:sp>
        <p:nvSpPr>
          <p:cNvPr id="9" name="TextBox 8"/>
          <p:cNvSpPr txBox="1"/>
          <p:nvPr/>
        </p:nvSpPr>
        <p:spPr>
          <a:xfrm>
            <a:off x="1152293" y="4280135"/>
            <a:ext cx="3419707" cy="307777"/>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 AI Based Proctoring Session</a:t>
            </a:r>
            <a:endParaRPr lang="en-US"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5151865" y="4280135"/>
            <a:ext cx="3419707" cy="307777"/>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 Face Detection and Monitoring</a:t>
            </a:r>
            <a:endParaRPr lang="en-US" dirty="0">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2"/>
          <a:stretch>
            <a:fillRect/>
          </a:stretch>
        </p:blipFill>
        <p:spPr>
          <a:xfrm>
            <a:off x="4328160" y="1356868"/>
            <a:ext cx="4127696" cy="2774391"/>
          </a:xfrm>
          <a:prstGeom prst="rect">
            <a:avLst/>
          </a:prstGeom>
        </p:spPr>
      </p:pic>
      <p:pic>
        <p:nvPicPr>
          <p:cNvPr id="11" name="Picture 10"/>
          <p:cNvPicPr>
            <a:picLocks noChangeAspect="1"/>
          </p:cNvPicPr>
          <p:nvPr/>
        </p:nvPicPr>
        <p:blipFill>
          <a:blip r:embed="rId3"/>
          <a:stretch>
            <a:fillRect/>
          </a:stretch>
        </p:blipFill>
        <p:spPr>
          <a:xfrm>
            <a:off x="624235" y="1356867"/>
            <a:ext cx="3516586" cy="277439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Box 2"/>
          <p:cNvSpPr txBox="1"/>
          <p:nvPr/>
        </p:nvSpPr>
        <p:spPr>
          <a:xfrm>
            <a:off x="462280" y="4662488"/>
            <a:ext cx="5080000" cy="337185"/>
          </a:xfrm>
          <a:prstGeom prst="rect">
            <a:avLst/>
          </a:prstGeom>
        </p:spPr>
        <p:txBody>
          <a:bodyPr>
            <a:spAutoFit/>
          </a:bodyPr>
          <a:lstStyle/>
          <a:p>
            <a:pPr fontAlgn="base">
              <a:spcBef>
                <a:spcPct val="0"/>
              </a:spcBef>
              <a:spcAft>
                <a:spcPct val="0"/>
              </a:spcAft>
            </a:pPr>
            <a:r>
              <a:rPr lang="en-US" altLang="zh-CN" sz="1600" dirty="0">
                <a:latin typeface="Times New Roman" panose="02020603050405020304" pitchFamily="18" charset="0"/>
                <a:ea typeface="Times New Roman" panose="02020603050405020304"/>
                <a:cs typeface="Times New Roman" panose="02020603050405020304" pitchFamily="18" charset="0"/>
                <a:sym typeface="+mn-ea"/>
              </a:rPr>
              <a:t>Team No: 15</a:t>
            </a:r>
            <a:endParaRPr lang="en-US" altLang="zh-CN" sz="1600" b="0" i="0" dirty="0">
              <a:solidFill>
                <a:srgbClr val="FF0000"/>
              </a:solidFill>
              <a:latin typeface="Times New Roman" panose="02020603050405020304" pitchFamily="18" charset="0"/>
              <a:ea typeface="Times New Roman" panose="02020603050405020304"/>
              <a:cs typeface="Times New Roman" panose="02020603050405020304" pitchFamily="18" charset="0"/>
            </a:endParaRPr>
          </a:p>
        </p:txBody>
      </p:sp>
      <p:sp>
        <p:nvSpPr>
          <p:cNvPr id="16" name="Rectangle 15"/>
          <p:cNvSpPr/>
          <p:nvPr/>
        </p:nvSpPr>
        <p:spPr>
          <a:xfrm>
            <a:off x="7949725" y="4680784"/>
            <a:ext cx="856260" cy="307777"/>
          </a:xfrm>
          <a:prstGeom prst="rect">
            <a:avLst/>
          </a:prstGeom>
        </p:spPr>
        <p:txBody>
          <a:bodyPr wrap="none">
            <a:spAutoFit/>
          </a:bodyPr>
          <a:lstStyle/>
          <a:p>
            <a:pPr>
              <a:tabLst>
                <a:tab pos="0" algn="l"/>
              </a:tabLst>
            </a:pPr>
            <a:r>
              <a:rPr lang="en-IN" spc="-1" dirty="0">
                <a:latin typeface="Times New Roman" panose="02020603050405020304" pitchFamily="18" charset="0"/>
                <a:cs typeface="Times New Roman" panose="02020603050405020304" pitchFamily="18" charset="0"/>
              </a:rPr>
              <a:t>           19</a:t>
            </a:r>
            <a:endParaRPr lang="en-IN" spc="-1" dirty="0">
              <a:latin typeface="Times New Roman" panose="02020603050405020304" pitchFamily="18" charset="0"/>
              <a:cs typeface="Times New Roman" panose="02020603050405020304" pitchFamily="18" charset="0"/>
            </a:endParaRPr>
          </a:p>
        </p:txBody>
      </p:sp>
      <p:pic>
        <p:nvPicPr>
          <p:cNvPr id="18" name="Picture 17"/>
          <p:cNvPicPr>
            <a:picLocks noChangeAspect="1"/>
          </p:cNvPicPr>
          <p:nvPr/>
        </p:nvPicPr>
        <p:blipFill>
          <a:blip r:embed="rId1"/>
          <a:stretch>
            <a:fillRect/>
          </a:stretch>
        </p:blipFill>
        <p:spPr>
          <a:xfrm>
            <a:off x="305608" y="234458"/>
            <a:ext cx="1943899" cy="483545"/>
          </a:xfrm>
          <a:prstGeom prst="rect">
            <a:avLst/>
          </a:prstGeom>
        </p:spPr>
      </p:pic>
      <p:sp>
        <p:nvSpPr>
          <p:cNvPr id="3" name="Google Shape;77;p10"/>
          <p:cNvSpPr txBox="1"/>
          <p:nvPr/>
        </p:nvSpPr>
        <p:spPr>
          <a:xfrm>
            <a:off x="1666707" y="204756"/>
            <a:ext cx="6904865" cy="669151"/>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chemeClr val="dk1"/>
              </a:buClr>
              <a:buSzPts val="5200"/>
              <a:buFont typeface="Noto Serif Ethiopic" panose="02020502060505020204"/>
              <a:buNone/>
            </a:pPr>
            <a:r>
              <a:rPr lang="en-IN" sz="30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RESULT AND DISCUSSION</a:t>
            </a:r>
            <a:endParaRPr lang="en-US" sz="3000" b="0" i="0" u="none" strike="noStrike" cap="none" dirty="0">
              <a:solidFill>
                <a:schemeClr val="accent2"/>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endParaRPr>
          </a:p>
        </p:txBody>
      </p:sp>
      <p:sp>
        <p:nvSpPr>
          <p:cNvPr id="4" name="TextBox 3"/>
          <p:cNvSpPr txBox="1"/>
          <p:nvPr/>
        </p:nvSpPr>
        <p:spPr>
          <a:xfrm>
            <a:off x="1204064" y="4332376"/>
            <a:ext cx="2346856" cy="307777"/>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 </a:t>
            </a:r>
            <a:r>
              <a:rPr lang="en-US" dirty="0">
                <a:latin typeface="Times New Roman" panose="02020603050405020304" pitchFamily="18" charset="0"/>
                <a:cs typeface="Times New Roman" panose="02020603050405020304" pitchFamily="18" charset="0"/>
              </a:rPr>
              <a:t>Behavioral Analysis </a:t>
            </a:r>
            <a:endParaRPr lang="en-US" dirty="0">
              <a:latin typeface="Times New Roman" panose="02020603050405020304" pitchFamily="18" charset="0"/>
              <a:cs typeface="Times New Roman" panose="02020603050405020304" pitchFamily="18" charset="0"/>
            </a:endParaRPr>
          </a:p>
        </p:txBody>
      </p:sp>
      <p:sp>
        <p:nvSpPr>
          <p:cNvPr id="5" name="TextBox 4"/>
          <p:cNvSpPr txBox="1"/>
          <p:nvPr/>
        </p:nvSpPr>
        <p:spPr>
          <a:xfrm>
            <a:off x="4958148" y="4386882"/>
            <a:ext cx="3419707" cy="307777"/>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                   Fig : Trust Score</a:t>
            </a:r>
            <a:endParaRPr lang="en-US"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750160" y="1268008"/>
            <a:ext cx="3705950" cy="3014638"/>
          </a:xfrm>
          <a:prstGeom prst="rect">
            <a:avLst/>
          </a:prstGeom>
        </p:spPr>
      </p:pic>
      <p:pic>
        <p:nvPicPr>
          <p:cNvPr id="8" name="Picture 7"/>
          <p:cNvPicPr>
            <a:picLocks noChangeAspect="1"/>
          </p:cNvPicPr>
          <p:nvPr/>
        </p:nvPicPr>
        <p:blipFill>
          <a:blip r:embed="rId3"/>
          <a:stretch>
            <a:fillRect/>
          </a:stretch>
        </p:blipFill>
        <p:spPr>
          <a:xfrm>
            <a:off x="4753744" y="1268008"/>
            <a:ext cx="3828513" cy="301463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79117" y="1419916"/>
            <a:ext cx="7698738" cy="2736061"/>
          </a:xfrm>
        </p:spPr>
        <p:txBody>
          <a:bodyPr/>
          <a:lstStyle/>
          <a:p>
            <a:pPr marL="139700" indent="0" algn="just">
              <a:lnSpc>
                <a:spcPct val="150000"/>
              </a:lnSpc>
              <a:buNone/>
            </a:pPr>
            <a:r>
              <a:rPr lang="en-US" sz="1400" dirty="0">
                <a:solidFill>
                  <a:schemeClr val="accent2"/>
                </a:solidFill>
                <a:latin typeface="Times New Roman" panose="02020603050405020304" pitchFamily="18" charset="0"/>
                <a:cs typeface="Times New Roman" panose="02020603050405020304" pitchFamily="18" charset="0"/>
              </a:rPr>
              <a:t>The AI-based proctoring system provides an effective and reliable solution for conducting secure online examinations by using technologies like </a:t>
            </a:r>
            <a:r>
              <a:rPr lang="en-IN" altLang="en-US" sz="1400" dirty="0">
                <a:solidFill>
                  <a:schemeClr val="accent2"/>
                </a:solidFill>
                <a:latin typeface="Times New Roman" panose="02020603050405020304" pitchFamily="18" charset="0"/>
                <a:cs typeface="Times New Roman" panose="02020603050405020304" pitchFamily="18" charset="0"/>
              </a:rPr>
              <a:t>artificial intelligence</a:t>
            </a:r>
            <a:r>
              <a:rPr lang="en-US" sz="1400" dirty="0">
                <a:solidFill>
                  <a:schemeClr val="accent2"/>
                </a:solidFill>
                <a:latin typeface="Times New Roman" panose="02020603050405020304" pitchFamily="18" charset="0"/>
                <a:cs typeface="Times New Roman" panose="02020603050405020304" pitchFamily="18" charset="0"/>
              </a:rPr>
              <a:t> and computer vision to monitor student behavior and detect cheating activities. It reduces human effort, improves scalability, and ensures fairness and transparency in the examination process. The system successfully identifies suspicious actions such as multiple faces, eye movement, and unauthorized object usage, thereby maintaining exam integrity. In the future, the system can be enhanced by incorporating advanced features such as emotion detection, voice recognition, and improved deep learning models for higher accuracy. It can also be integrated with mobile platforms and learning management systems to make it more accessible and efficient for large-scale use.</a:t>
            </a:r>
            <a:endParaRPr lang="en-IN" sz="1400" b="1" dirty="0">
              <a:solidFill>
                <a:schemeClr val="accent2"/>
              </a:solidFill>
              <a:latin typeface="Times New Roman" panose="02020603050405020304" pitchFamily="18" charset="0"/>
              <a:cs typeface="Times New Roman" panose="02020603050405020304" pitchFamily="18" charset="0"/>
            </a:endParaRPr>
          </a:p>
        </p:txBody>
      </p:sp>
      <p:sp>
        <p:nvSpPr>
          <p:cNvPr id="6" name="Title 4"/>
          <p:cNvSpPr>
            <a:spLocks noGrp="1"/>
          </p:cNvSpPr>
          <p:nvPr>
            <p:ph type="title"/>
          </p:nvPr>
        </p:nvSpPr>
        <p:spPr>
          <a:xfrm>
            <a:off x="263912" y="679040"/>
            <a:ext cx="8616176" cy="572700"/>
          </a:xfrm>
        </p:spPr>
        <p:txBody>
          <a:bodyPr/>
          <a:lstStyle/>
          <a:p>
            <a:r>
              <a:rPr lang="en-IN" sz="3000" dirty="0">
                <a:solidFill>
                  <a:schemeClr val="accent2"/>
                </a:solidFill>
                <a:latin typeface="Times New Roman" panose="02020603050405020304" pitchFamily="18" charset="0"/>
                <a:cs typeface="Times New Roman" panose="02020603050405020304" pitchFamily="18" charset="0"/>
              </a:rPr>
              <a:t>CONCLUSION AND FUTURE ENHANCEMENT</a:t>
            </a:r>
            <a:endParaRPr lang="en-US" sz="3000" dirty="0">
              <a:solidFill>
                <a:schemeClr val="accent2"/>
              </a:solidFill>
              <a:latin typeface="Times New Roman" panose="02020603050405020304" pitchFamily="18" charset="0"/>
              <a:cs typeface="Times New Roman" panose="02020603050405020304" pitchFamily="18" charset="0"/>
            </a:endParaRPr>
          </a:p>
        </p:txBody>
      </p:sp>
      <p:sp>
        <p:nvSpPr>
          <p:cNvPr id="7" name="Text Box 2"/>
          <p:cNvSpPr txBox="1"/>
          <p:nvPr/>
        </p:nvSpPr>
        <p:spPr>
          <a:xfrm>
            <a:off x="462280" y="4662488"/>
            <a:ext cx="5080000" cy="337185"/>
          </a:xfrm>
          <a:prstGeom prst="rect">
            <a:avLst/>
          </a:prstGeom>
        </p:spPr>
        <p:txBody>
          <a:bodyPr>
            <a:spAutoFit/>
          </a:bodyPr>
          <a:lstStyle/>
          <a:p>
            <a:pPr fontAlgn="base">
              <a:spcBef>
                <a:spcPct val="0"/>
              </a:spcBef>
              <a:spcAft>
                <a:spcPct val="0"/>
              </a:spcAft>
            </a:pPr>
            <a:r>
              <a:rPr lang="en-US" altLang="zh-CN" sz="1600" dirty="0">
                <a:latin typeface="Times New Roman" panose="02020603050405020304" pitchFamily="18" charset="0"/>
                <a:ea typeface="Times New Roman" panose="02020603050405020304"/>
                <a:cs typeface="Times New Roman" panose="02020603050405020304" pitchFamily="18" charset="0"/>
                <a:sym typeface="+mn-ea"/>
              </a:rPr>
              <a:t>Team No: 15</a:t>
            </a:r>
            <a:endParaRPr lang="en-US" altLang="zh-CN" sz="1600" b="0" i="0" dirty="0">
              <a:solidFill>
                <a:srgbClr val="FF0000"/>
              </a:solidFill>
              <a:latin typeface="Times New Roman" panose="02020603050405020304" pitchFamily="18" charset="0"/>
              <a:ea typeface="Times New Roman" panose="02020603050405020304"/>
              <a:cs typeface="Times New Roman" panose="02020603050405020304" pitchFamily="18" charset="0"/>
            </a:endParaRPr>
          </a:p>
        </p:txBody>
      </p:sp>
      <p:sp>
        <p:nvSpPr>
          <p:cNvPr id="8" name="Rectangle 7"/>
          <p:cNvSpPr/>
          <p:nvPr/>
        </p:nvSpPr>
        <p:spPr>
          <a:xfrm>
            <a:off x="7949725" y="4680784"/>
            <a:ext cx="856260" cy="307777"/>
          </a:xfrm>
          <a:prstGeom prst="rect">
            <a:avLst/>
          </a:prstGeom>
        </p:spPr>
        <p:txBody>
          <a:bodyPr wrap="none">
            <a:spAutoFit/>
          </a:bodyPr>
          <a:lstStyle/>
          <a:p>
            <a:pPr>
              <a:tabLst>
                <a:tab pos="0" algn="l"/>
              </a:tabLst>
            </a:pPr>
            <a:r>
              <a:rPr lang="en-IN" spc="-1" dirty="0">
                <a:latin typeface="Times New Roman" panose="02020603050405020304" pitchFamily="18" charset="0"/>
                <a:cs typeface="Times New Roman" panose="02020603050405020304" pitchFamily="18" charset="0"/>
              </a:rPr>
              <a:t>           21</a:t>
            </a:r>
            <a:endParaRPr lang="en-IN" spc="-1"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1"/>
          <a:stretch>
            <a:fillRect/>
          </a:stretch>
        </p:blipFill>
        <p:spPr>
          <a:xfrm>
            <a:off x="325929" y="262502"/>
            <a:ext cx="1543512" cy="38394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0000" y="189880"/>
            <a:ext cx="7704000" cy="572700"/>
          </a:xfrm>
        </p:spPr>
        <p:txBody>
          <a:bodyPr/>
          <a:lstStyle/>
          <a:p>
            <a:r>
              <a:rPr lang="en-IN" sz="3000" dirty="0">
                <a:latin typeface="Times New Roman" panose="02020603050405020304" pitchFamily="18" charset="0"/>
                <a:cs typeface="Times New Roman" panose="02020603050405020304" pitchFamily="18" charset="0"/>
              </a:rPr>
              <a:t>REFERENCES </a:t>
            </a:r>
            <a:endParaRPr lang="en-IN" sz="30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399535" y="1000061"/>
            <a:ext cx="8344930" cy="3469523"/>
          </a:xfrm>
        </p:spPr>
        <p:txBody>
          <a:bodyPr/>
          <a:lstStyle/>
          <a:p>
            <a:pPr marL="139700" indent="0" algn="just">
              <a:lnSpc>
                <a:spcPct val="100000"/>
              </a:lnSpc>
              <a:buNone/>
            </a:pPr>
            <a:r>
              <a:rPr lang="en-IN" sz="1400" dirty="0">
                <a:solidFill>
                  <a:schemeClr val="accent2"/>
                </a:solidFill>
                <a:latin typeface="Times New Roman" panose="02020603050405020304" pitchFamily="18" charset="0"/>
                <a:cs typeface="Times New Roman" panose="02020603050405020304" pitchFamily="18" charset="0"/>
              </a:rPr>
              <a:t>[1] Nigam, A., Pasricha, R., Singh, T., &amp; </a:t>
            </a:r>
            <a:r>
              <a:rPr lang="en-IN" sz="1400" dirty="0" err="1">
                <a:solidFill>
                  <a:schemeClr val="accent2"/>
                </a:solidFill>
                <a:latin typeface="Times New Roman" panose="02020603050405020304" pitchFamily="18" charset="0"/>
                <a:cs typeface="Times New Roman" panose="02020603050405020304" pitchFamily="18" charset="0"/>
              </a:rPr>
              <a:t>Churi</a:t>
            </a:r>
            <a:r>
              <a:rPr lang="en-IN" sz="1400" dirty="0">
                <a:solidFill>
                  <a:schemeClr val="accent2"/>
                </a:solidFill>
                <a:latin typeface="Times New Roman" panose="02020603050405020304" pitchFamily="18" charset="0"/>
                <a:cs typeface="Times New Roman" panose="02020603050405020304" pitchFamily="18" charset="0"/>
              </a:rPr>
              <a:t>, P. (2021), “A Systematic Review on AI-Based Proctoring Systems: Past, Present and Future”, Education and Information Technologies, New York, USA: Springer.</a:t>
            </a:r>
            <a:endParaRPr lang="en-IN" sz="1400" dirty="0">
              <a:solidFill>
                <a:schemeClr val="accent2"/>
              </a:solidFill>
              <a:latin typeface="Times New Roman" panose="02020603050405020304" pitchFamily="18" charset="0"/>
              <a:cs typeface="Times New Roman" panose="02020603050405020304" pitchFamily="18" charset="0"/>
            </a:endParaRPr>
          </a:p>
          <a:p>
            <a:pPr marL="139700" indent="0" algn="just">
              <a:lnSpc>
                <a:spcPct val="100000"/>
              </a:lnSpc>
              <a:buNone/>
            </a:pPr>
            <a:endParaRPr lang="en-IN" sz="1400" dirty="0">
              <a:solidFill>
                <a:schemeClr val="accent2"/>
              </a:solidFill>
              <a:latin typeface="Times New Roman" panose="02020603050405020304" pitchFamily="18" charset="0"/>
              <a:cs typeface="Times New Roman" panose="02020603050405020304" pitchFamily="18" charset="0"/>
            </a:endParaRPr>
          </a:p>
          <a:p>
            <a:pPr marL="139700" indent="0" algn="just">
              <a:lnSpc>
                <a:spcPct val="100000"/>
              </a:lnSpc>
              <a:buNone/>
            </a:pPr>
            <a:r>
              <a:rPr lang="en-IN" sz="1400" dirty="0">
                <a:solidFill>
                  <a:schemeClr val="accent2"/>
                </a:solidFill>
                <a:latin typeface="Times New Roman" panose="02020603050405020304" pitchFamily="18" charset="0"/>
                <a:cs typeface="Times New Roman" panose="02020603050405020304" pitchFamily="18" charset="0"/>
              </a:rPr>
              <a:t>[2] </a:t>
            </a:r>
            <a:r>
              <a:rPr lang="en-IN" sz="1400" dirty="0" err="1">
                <a:solidFill>
                  <a:schemeClr val="accent2"/>
                </a:solidFill>
                <a:latin typeface="Times New Roman" panose="02020603050405020304" pitchFamily="18" charset="0"/>
                <a:cs typeface="Times New Roman" panose="02020603050405020304" pitchFamily="18" charset="0"/>
              </a:rPr>
              <a:t>Atoum</a:t>
            </a:r>
            <a:r>
              <a:rPr lang="en-IN" sz="1400" dirty="0">
                <a:solidFill>
                  <a:schemeClr val="accent2"/>
                </a:solidFill>
                <a:latin typeface="Times New Roman" panose="02020603050405020304" pitchFamily="18" charset="0"/>
                <a:cs typeface="Times New Roman" panose="02020603050405020304" pitchFamily="18" charset="0"/>
              </a:rPr>
              <a:t>, Y., Chen, L., Liu, A. X., Hsu, S. D. H., &amp; Liu, X. (2017), “Automated Online Exam Proctoring”, IEEE Transactions on Multimedia, pp. 1–12, New York, USA: IEEE.</a:t>
            </a:r>
            <a:endParaRPr lang="en-IN" sz="1400" dirty="0">
              <a:solidFill>
                <a:schemeClr val="accent2"/>
              </a:solidFill>
              <a:latin typeface="Times New Roman" panose="02020603050405020304" pitchFamily="18" charset="0"/>
              <a:cs typeface="Times New Roman" panose="02020603050405020304" pitchFamily="18" charset="0"/>
            </a:endParaRPr>
          </a:p>
          <a:p>
            <a:pPr marL="139700" indent="0" algn="just">
              <a:lnSpc>
                <a:spcPct val="100000"/>
              </a:lnSpc>
              <a:buNone/>
            </a:pPr>
            <a:br>
              <a:rPr lang="en-IN" sz="1400" dirty="0">
                <a:solidFill>
                  <a:schemeClr val="accent2"/>
                </a:solidFill>
                <a:latin typeface="Times New Roman" panose="02020603050405020304" pitchFamily="18" charset="0"/>
                <a:cs typeface="Times New Roman" panose="02020603050405020304" pitchFamily="18" charset="0"/>
              </a:rPr>
            </a:br>
            <a:r>
              <a:rPr lang="en-IN" sz="1400" dirty="0">
                <a:solidFill>
                  <a:schemeClr val="accent2"/>
                </a:solidFill>
                <a:latin typeface="Times New Roman" panose="02020603050405020304" pitchFamily="18" charset="0"/>
                <a:cs typeface="Times New Roman" panose="02020603050405020304" pitchFamily="18" charset="0"/>
              </a:rPr>
              <a:t>[3] Motwani, S., Nagpal, C., Motwani, M., &amp; Nagdev, N. (2021), “AI-Based Proctoring System for Online Tests”, SSRN Electronic Journal, New York, USA: Elsevier.</a:t>
            </a:r>
            <a:endParaRPr lang="en-IN" sz="1400" dirty="0">
              <a:solidFill>
                <a:schemeClr val="accent2"/>
              </a:solidFill>
              <a:latin typeface="Times New Roman" panose="02020603050405020304" pitchFamily="18" charset="0"/>
              <a:cs typeface="Times New Roman" panose="02020603050405020304" pitchFamily="18" charset="0"/>
            </a:endParaRPr>
          </a:p>
          <a:p>
            <a:pPr marL="139700" indent="0" algn="just">
              <a:lnSpc>
                <a:spcPct val="100000"/>
              </a:lnSpc>
              <a:buNone/>
            </a:pPr>
            <a:endParaRPr lang="en-IN" sz="1400" dirty="0">
              <a:solidFill>
                <a:schemeClr val="accent2"/>
              </a:solidFill>
              <a:latin typeface="Times New Roman" panose="02020603050405020304" pitchFamily="18" charset="0"/>
              <a:cs typeface="Times New Roman" panose="02020603050405020304" pitchFamily="18" charset="0"/>
            </a:endParaRPr>
          </a:p>
          <a:p>
            <a:pPr marL="139700" indent="0" algn="just">
              <a:lnSpc>
                <a:spcPct val="100000"/>
              </a:lnSpc>
              <a:buNone/>
            </a:pPr>
            <a:r>
              <a:rPr lang="en-IN" sz="1400" dirty="0">
                <a:solidFill>
                  <a:schemeClr val="accent2"/>
                </a:solidFill>
                <a:latin typeface="Times New Roman" panose="02020603050405020304" pitchFamily="18" charset="0"/>
                <a:cs typeface="Times New Roman" panose="02020603050405020304" pitchFamily="18" charset="0"/>
              </a:rPr>
              <a:t>[4] Sridhar, A., &amp; Rajshekhar, J. S. (2022), “AI-Integrated Proctoring System for Online Exams”, Journal of Artificial Intelligence and Capsule Networks, pp. 45–55, New York, USA.</a:t>
            </a:r>
            <a:endParaRPr lang="en-IN" sz="1400" dirty="0">
              <a:solidFill>
                <a:schemeClr val="accent2"/>
              </a:solidFill>
              <a:latin typeface="Times New Roman" panose="02020603050405020304" pitchFamily="18" charset="0"/>
              <a:cs typeface="Times New Roman" panose="02020603050405020304" pitchFamily="18" charset="0"/>
            </a:endParaRPr>
          </a:p>
          <a:p>
            <a:pPr marL="139700" indent="0" algn="just">
              <a:lnSpc>
                <a:spcPct val="100000"/>
              </a:lnSpc>
              <a:buNone/>
            </a:pPr>
            <a:br>
              <a:rPr lang="en-IN" sz="1400" dirty="0">
                <a:solidFill>
                  <a:schemeClr val="accent2"/>
                </a:solidFill>
                <a:latin typeface="Times New Roman" panose="02020603050405020304" pitchFamily="18" charset="0"/>
                <a:cs typeface="Times New Roman" panose="02020603050405020304" pitchFamily="18" charset="0"/>
              </a:rPr>
            </a:br>
            <a:r>
              <a:rPr lang="en-IN" sz="1400" dirty="0">
                <a:solidFill>
                  <a:schemeClr val="accent2"/>
                </a:solidFill>
                <a:latin typeface="Times New Roman" panose="02020603050405020304" pitchFamily="18" charset="0"/>
                <a:cs typeface="Times New Roman" panose="02020603050405020304" pitchFamily="18" charset="0"/>
              </a:rPr>
              <a:t>[5] Alessio, H. M., Malay, N., Maurer, K., Bailer, A., &amp; Rubin, B. (2017), “Examining the Effect of Proctoring on Online Test Scores”, Online Learning Journal, pp. 146–161, New York, USA.</a:t>
            </a:r>
            <a:endParaRPr lang="en-IN" sz="1400" dirty="0">
              <a:solidFill>
                <a:schemeClr val="accent2"/>
              </a:solidFill>
              <a:latin typeface="Times New Roman" panose="02020603050405020304" pitchFamily="18" charset="0"/>
              <a:cs typeface="Times New Roman" panose="02020603050405020304" pitchFamily="18" charset="0"/>
            </a:endParaRPr>
          </a:p>
          <a:p>
            <a:pPr marL="139700" indent="0" algn="just">
              <a:lnSpc>
                <a:spcPct val="100000"/>
              </a:lnSpc>
              <a:buNone/>
            </a:pPr>
            <a:endParaRPr lang="en-IN" sz="1400" dirty="0">
              <a:latin typeface="Times New Roman" panose="02020603050405020304" pitchFamily="18" charset="0"/>
              <a:cs typeface="Times New Roman" panose="02020603050405020304" pitchFamily="18" charset="0"/>
            </a:endParaRPr>
          </a:p>
          <a:p>
            <a:pPr marL="139700" indent="0" algn="just">
              <a:lnSpc>
                <a:spcPct val="100000"/>
              </a:lnSpc>
              <a:buNone/>
            </a:pPr>
            <a:endParaRPr lang="en-IN" sz="1400" dirty="0">
              <a:solidFill>
                <a:schemeClr val="accent2"/>
              </a:solidFill>
              <a:latin typeface="Times New Roman" panose="02020603050405020304" pitchFamily="18" charset="0"/>
              <a:cs typeface="Times New Roman" panose="02020603050405020304" pitchFamily="18" charset="0"/>
            </a:endParaRPr>
          </a:p>
          <a:p>
            <a:pPr algn="just"/>
            <a:endParaRPr lang="en-IN" sz="1400" dirty="0">
              <a:solidFill>
                <a:schemeClr val="accent2"/>
              </a:solidFill>
              <a:latin typeface="Times New Roman" panose="02020603050405020304" pitchFamily="18" charset="0"/>
              <a:cs typeface="Times New Roman" panose="02020603050405020304" pitchFamily="18" charset="0"/>
            </a:endParaRPr>
          </a:p>
        </p:txBody>
      </p:sp>
      <p:sp>
        <p:nvSpPr>
          <p:cNvPr id="4" name="Text Box 2"/>
          <p:cNvSpPr txBox="1"/>
          <p:nvPr/>
        </p:nvSpPr>
        <p:spPr>
          <a:xfrm>
            <a:off x="462280" y="4662488"/>
            <a:ext cx="5080000" cy="337185"/>
          </a:xfrm>
          <a:prstGeom prst="rect">
            <a:avLst/>
          </a:prstGeom>
        </p:spPr>
        <p:txBody>
          <a:bodyPr>
            <a:spAutoFit/>
          </a:bodyPr>
          <a:lstStyle/>
          <a:p>
            <a:pPr fontAlgn="base">
              <a:spcBef>
                <a:spcPct val="0"/>
              </a:spcBef>
              <a:spcAft>
                <a:spcPct val="0"/>
              </a:spcAft>
            </a:pPr>
            <a:r>
              <a:rPr lang="en-US" altLang="zh-CN" sz="1600" dirty="0">
                <a:latin typeface="Times New Roman" panose="02020603050405020304" pitchFamily="18" charset="0"/>
                <a:ea typeface="Times New Roman" panose="02020603050405020304"/>
                <a:cs typeface="Times New Roman" panose="02020603050405020304" pitchFamily="18" charset="0"/>
                <a:sym typeface="+mn-ea"/>
              </a:rPr>
              <a:t>Team No: 15</a:t>
            </a:r>
            <a:endParaRPr lang="en-US" altLang="zh-CN" sz="1600" b="0" i="0" dirty="0">
              <a:solidFill>
                <a:srgbClr val="FF0000"/>
              </a:solidFill>
              <a:latin typeface="Times New Roman" panose="02020603050405020304" pitchFamily="18" charset="0"/>
              <a:ea typeface="Times New Roman" panose="02020603050405020304"/>
              <a:cs typeface="Times New Roman" panose="02020603050405020304" pitchFamily="18" charset="0"/>
            </a:endParaRPr>
          </a:p>
        </p:txBody>
      </p:sp>
      <p:sp>
        <p:nvSpPr>
          <p:cNvPr id="5" name="Rectangle 4"/>
          <p:cNvSpPr/>
          <p:nvPr/>
        </p:nvSpPr>
        <p:spPr>
          <a:xfrm>
            <a:off x="7949725" y="4680784"/>
            <a:ext cx="856260" cy="307777"/>
          </a:xfrm>
          <a:prstGeom prst="rect">
            <a:avLst/>
          </a:prstGeom>
        </p:spPr>
        <p:txBody>
          <a:bodyPr wrap="none">
            <a:spAutoFit/>
          </a:bodyPr>
          <a:lstStyle/>
          <a:p>
            <a:pPr>
              <a:tabLst>
                <a:tab pos="0" algn="l"/>
              </a:tabLst>
            </a:pPr>
            <a:r>
              <a:rPr lang="en-IN" spc="-1" dirty="0">
                <a:latin typeface="Times New Roman" panose="02020603050405020304" pitchFamily="18" charset="0"/>
                <a:cs typeface="Times New Roman" panose="02020603050405020304" pitchFamily="18" charset="0"/>
              </a:rPr>
              <a:t>           22</a:t>
            </a:r>
            <a:endParaRPr lang="en-IN" spc="-1"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a:stretch>
            <a:fillRect/>
          </a:stretch>
        </p:blipFill>
        <p:spPr>
          <a:xfrm>
            <a:off x="305608" y="234458"/>
            <a:ext cx="1943899" cy="48354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6"/>
          <p:cNvSpPr txBox="1"/>
          <p:nvPr/>
        </p:nvSpPr>
        <p:spPr>
          <a:xfrm>
            <a:off x="2145043" y="2098199"/>
            <a:ext cx="4853914" cy="947101"/>
          </a:xfrm>
          <a:prstGeom prst="rect">
            <a:avLst/>
          </a:prstGeom>
          <a:noFill/>
          <a:ln>
            <a:noFill/>
          </a:ln>
        </p:spPr>
        <p:txBody>
          <a:bodyPr spcFirstLastPara="1" wrap="square" lIns="91425" tIns="91425" rIns="91425" bIns="91425" anchor="b" anchorCtr="0">
            <a:noAutofit/>
          </a:bodyPr>
          <a:lstStyle/>
          <a:p>
            <a:pPr marL="0" marR="0" lvl="0" indent="0" algn="ctr" rtl="0">
              <a:lnSpc>
                <a:spcPct val="90000"/>
              </a:lnSpc>
              <a:spcBef>
                <a:spcPts val="0"/>
              </a:spcBef>
              <a:spcAft>
                <a:spcPts val="0"/>
              </a:spcAft>
              <a:buClr>
                <a:schemeClr val="dk1"/>
              </a:buClr>
              <a:buSzPts val="5200"/>
              <a:buFont typeface="Noto Serif Ethiopic" panose="02020502060505020204"/>
              <a:buNone/>
            </a:pPr>
            <a:r>
              <a:rPr lang="en-US" sz="5400" dirty="0">
                <a:solidFill>
                  <a:schemeClr val="dk1"/>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rPr>
              <a:t>THANK YOU</a:t>
            </a:r>
            <a:endParaRPr sz="5400" b="0" i="0" u="none" strike="noStrike" cap="none" dirty="0">
              <a:solidFill>
                <a:schemeClr val="dk1"/>
              </a:solidFill>
              <a:latin typeface="Times New Roman" panose="02020603050405020304" pitchFamily="18" charset="0"/>
              <a:ea typeface="Noto Serif Ethiopic" panose="02020502060505020204"/>
              <a:cs typeface="Times New Roman" panose="02020603050405020304" pitchFamily="18" charset="0"/>
              <a:sym typeface="Noto Serif Ethiopic" panose="02020502060505020204"/>
            </a:endParaRPr>
          </a:p>
        </p:txBody>
      </p:sp>
      <p:sp>
        <p:nvSpPr>
          <p:cNvPr id="3" name="Text Box 2"/>
          <p:cNvSpPr txBox="1"/>
          <p:nvPr/>
        </p:nvSpPr>
        <p:spPr>
          <a:xfrm>
            <a:off x="462279" y="4662488"/>
            <a:ext cx="8525604" cy="338554"/>
          </a:xfrm>
          <a:prstGeom prst="rect">
            <a:avLst/>
          </a:prstGeom>
        </p:spPr>
        <p:txBody>
          <a:bodyPr wrap="square">
            <a:spAutoFit/>
          </a:bodyPr>
          <a:lstStyle/>
          <a:p>
            <a:pPr fontAlgn="base">
              <a:spcBef>
                <a:spcPct val="0"/>
              </a:spcBef>
              <a:spcAft>
                <a:spcPct val="0"/>
              </a:spcAft>
            </a:pPr>
            <a:r>
              <a:rPr lang="en-US" altLang="zh-CN" sz="1600" dirty="0">
                <a:latin typeface="Times New Roman" panose="02020603050405020304" pitchFamily="18" charset="0"/>
                <a:ea typeface="Times New Roman" panose="02020603050405020304"/>
                <a:cs typeface="Times New Roman" panose="02020603050405020304" pitchFamily="18" charset="0"/>
              </a:rPr>
              <a:t>Team No: 15</a:t>
            </a:r>
            <a:r>
              <a:rPr lang="en-US" sz="1600" spc="-1" dirty="0">
                <a:latin typeface="Times New Roman" panose="02020603050405020304" pitchFamily="18" charset="0"/>
                <a:cs typeface="Times New Roman" panose="02020603050405020304" pitchFamily="18" charset="0"/>
              </a:rPr>
              <a:t>                                                                                                                                         </a:t>
            </a:r>
            <a:endParaRPr lang="en-US" sz="1600" spc="-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305608" y="234458"/>
            <a:ext cx="1943899" cy="483545"/>
          </a:xfrm>
          <a:prstGeom prst="rect">
            <a:avLst/>
          </a:prstGeom>
        </p:spPr>
      </p:pic>
    </p:spTree>
  </p:cSld>
  <p:clrMapOvr>
    <a:masterClrMapping/>
  </p:clrMapOvr>
</p:sld>
</file>

<file path=ppt/tags/tag1.xml><?xml version="1.0" encoding="utf-8"?>
<p:tagLst xmlns:p="http://schemas.openxmlformats.org/presentationml/2006/main">
  <p:tag name="TABLE_ENDDRAG_ORIGIN_RECT" val="615*302"/>
  <p:tag name="TABLE_ENDDRAG_RECT" val="48*57*615*302"/>
</p:tagLst>
</file>

<file path=ppt/theme/theme1.xml><?xml version="1.0" encoding="utf-8"?>
<a:theme xmlns:a="http://schemas.openxmlformats.org/drawingml/2006/main" name="Executive Summary of Marketing Plan by Slidesgo">
  <a:themeElements>
    <a:clrScheme name="Simple Light">
      <a:dk1>
        <a:srgbClr val="586847"/>
      </a:dk1>
      <a:lt1>
        <a:srgbClr val="FCFCFC"/>
      </a:lt1>
      <a:dk2>
        <a:srgbClr val="F3ECE6"/>
      </a:dk2>
      <a:lt2>
        <a:srgbClr val="B4ACA2"/>
      </a:lt2>
      <a:accent1>
        <a:srgbClr val="475735"/>
      </a:accent1>
      <a:accent2>
        <a:srgbClr val="303A24"/>
      </a:accent2>
      <a:accent3>
        <a:srgbClr val="FFFFFF"/>
      </a:accent3>
      <a:accent4>
        <a:srgbClr val="FFFFFF"/>
      </a:accent4>
      <a:accent5>
        <a:srgbClr val="FFFFFF"/>
      </a:accent5>
      <a:accent6>
        <a:srgbClr val="FFFFFF"/>
      </a:accent6>
      <a:hlink>
        <a:srgbClr val="58684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13897</Words>
  <Application>WPS Presentation</Application>
  <PresentationFormat>On-screen Show (16:9)</PresentationFormat>
  <Paragraphs>360</Paragraphs>
  <Slides>22</Slides>
  <Notes>20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22</vt:i4>
      </vt:variant>
    </vt:vector>
  </HeadingPairs>
  <TitlesOfParts>
    <vt:vector size="35" baseType="lpstr">
      <vt:lpstr>Arial</vt:lpstr>
      <vt:lpstr>SimSun</vt:lpstr>
      <vt:lpstr>Wingdings</vt:lpstr>
      <vt:lpstr>Arial</vt:lpstr>
      <vt:lpstr>Noto Serif Ethiopic</vt:lpstr>
      <vt:lpstr>Bebas Neue</vt:lpstr>
      <vt:lpstr>Segoe Print</vt:lpstr>
      <vt:lpstr>Akatab</vt:lpstr>
      <vt:lpstr>Times New Roman</vt:lpstr>
      <vt:lpstr>Times New Roman</vt:lpstr>
      <vt:lpstr>Microsoft YaHei</vt:lpstr>
      <vt:lpstr>Arial Unicode MS</vt:lpstr>
      <vt:lpstr>Executive Summary of Marketing Plan by Slidesgo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CONCLUSION AND FUTURE ENHANCEMENT</vt:lpstr>
      <vt:lpstr>REFERENCES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Sree Vaishnavi</dc:creator>
  <cp:lastModifiedBy>Saisree Manchukonda</cp:lastModifiedBy>
  <cp:revision>187</cp:revision>
  <cp:lastPrinted>2026-03-23T17:16:00Z</cp:lastPrinted>
  <dcterms:created xsi:type="dcterms:W3CDTF">2023-11-16T18:23:00Z</dcterms:created>
  <dcterms:modified xsi:type="dcterms:W3CDTF">2026-04-10T08:08:27Z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BBCFA252DD99462898A65B9FF381752F_13</vt:lpwstr>
  </property>
  <property fmtid="{D5CDD505-2E9C-101B-9397-08002B2CF9AE}" pid="3" name="KSOProductBuildVer">
    <vt:lpwstr>1033-12.1.0.25242</vt:lpwstr>
  </property>
</Properties>
</file>